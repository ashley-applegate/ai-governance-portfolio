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1" r:id="rId1"/>
  </p:sldMasterIdLst>
  <p:notesMasterIdLst>
    <p:notesMasterId r:id="rId11"/>
  </p:notesMasterIdLst>
  <p:sldIdLst>
    <p:sldId id="256" r:id="rId2"/>
    <p:sldId id="258" r:id="rId3"/>
    <p:sldId id="261" r:id="rId4"/>
    <p:sldId id="257" r:id="rId5"/>
    <p:sldId id="259" r:id="rId6"/>
    <p:sldId id="263" r:id="rId7"/>
    <p:sldId id="264" r:id="rId8"/>
    <p:sldId id="262"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63"/>
    <p:restoredTop sz="59233"/>
  </p:normalViewPr>
  <p:slideViewPr>
    <p:cSldViewPr snapToGrid="0">
      <p:cViewPr varScale="1">
        <p:scale>
          <a:sx n="65" d="100"/>
          <a:sy n="65" d="100"/>
        </p:scale>
        <p:origin x="23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5">
        <a:alpha val="0"/>
      </a:schemeClr>
    </dgm:fillClrLst>
    <dgm:linClrLst meth="repeat">
      <a:schemeClr val="accent5">
        <a:alpha val="0"/>
      </a:schemeClr>
    </dgm:linClrLst>
    <dgm:effectClrLst/>
    <dgm:txLinClrLst/>
    <dgm:txFillClrLst>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246CE56-4CB1-493B-9B3A-6657FD9ED96C}" type="doc">
      <dgm:prSet loTypeId="urn:microsoft.com/office/officeart/2018/5/layout/IconCircleLabelList" loCatId="icon" qsTypeId="urn:microsoft.com/office/officeart/2005/8/quickstyle/simple1#58" qsCatId="simple" csTypeId="urn:microsoft.com/office/officeart/2018/5/colors/Iconchunking_coloredtext_colorful5" csCatId="colorful" phldr="1"/>
      <dgm:spPr/>
      <dgm:t>
        <a:bodyPr/>
        <a:lstStyle/>
        <a:p>
          <a:endParaRPr lang="en-US"/>
        </a:p>
      </dgm:t>
    </dgm:pt>
    <dgm:pt modelId="{2BA8D68F-ACF8-47E0-A90F-BD0DA5C27425}">
      <dgm:prSet/>
      <dgm:spPr/>
      <dgm:t>
        <a:bodyPr/>
        <a:lstStyle/>
        <a:p>
          <a:pPr>
            <a:lnSpc>
              <a:spcPct val="100000"/>
            </a:lnSpc>
            <a:defRPr cap="all"/>
          </a:pPr>
          <a:r>
            <a:rPr lang="en-US"/>
            <a:t>Task: The AI was tasked with formatting and calculating travel and labor information into a Vermont Probate Court accounting table.</a:t>
          </a:r>
        </a:p>
      </dgm:t>
    </dgm:pt>
    <dgm:pt modelId="{51E7CBED-1E57-4B36-8CEF-99E6B9676243}" type="parTrans" cxnId="{BD92BB4F-0687-40CE-B965-5063A44EB9A5}">
      <dgm:prSet/>
      <dgm:spPr/>
      <dgm:t>
        <a:bodyPr/>
        <a:lstStyle/>
        <a:p>
          <a:endParaRPr lang="en-US"/>
        </a:p>
      </dgm:t>
    </dgm:pt>
    <dgm:pt modelId="{45044109-44FD-40A3-B37D-2AE82E7D7E96}" type="sibTrans" cxnId="{BD92BB4F-0687-40CE-B965-5063A44EB9A5}">
      <dgm:prSet/>
      <dgm:spPr/>
      <dgm:t>
        <a:bodyPr/>
        <a:lstStyle/>
        <a:p>
          <a:endParaRPr lang="en-US"/>
        </a:p>
      </dgm:t>
    </dgm:pt>
    <dgm:pt modelId="{40C5A821-B73D-4D22-A13D-0C641C06DCA6}">
      <dgm:prSet/>
      <dgm:spPr/>
      <dgm:t>
        <a:bodyPr/>
        <a:lstStyle/>
        <a:p>
          <a:pPr>
            <a:lnSpc>
              <a:spcPct val="100000"/>
            </a:lnSpc>
            <a:defRPr cap="all"/>
          </a:pPr>
          <a:r>
            <a:rPr lang="en-US"/>
            <a:t>Provisions: The AI was provided with the ‘Probating a Vermont Estate Booklet’ for background and relevant details on start, stop, and end dates, times, and locations to build a graph showing time spent on estate-related tasks. </a:t>
          </a:r>
        </a:p>
      </dgm:t>
    </dgm:pt>
    <dgm:pt modelId="{B73DCDF7-CFEA-47BA-B5C9-893AA56D3D70}" type="parTrans" cxnId="{6E20BCB9-7FA8-4BF6-9AA7-CEAF1D1B5BF3}">
      <dgm:prSet/>
      <dgm:spPr/>
      <dgm:t>
        <a:bodyPr/>
        <a:lstStyle/>
        <a:p>
          <a:endParaRPr lang="en-US"/>
        </a:p>
      </dgm:t>
    </dgm:pt>
    <dgm:pt modelId="{F8830351-17C9-44C8-B260-38A12A30A310}" type="sibTrans" cxnId="{6E20BCB9-7FA8-4BF6-9AA7-CEAF1D1B5BF3}">
      <dgm:prSet/>
      <dgm:spPr/>
      <dgm:t>
        <a:bodyPr/>
        <a:lstStyle/>
        <a:p>
          <a:endParaRPr lang="en-US"/>
        </a:p>
      </dgm:t>
    </dgm:pt>
    <dgm:pt modelId="{BBBB2DA9-7ED6-4FE2-AEF7-7147DB690672}">
      <dgm:prSet/>
      <dgm:spPr/>
      <dgm:t>
        <a:bodyPr/>
        <a:lstStyle/>
        <a:p>
          <a:pPr>
            <a:lnSpc>
              <a:spcPct val="100000"/>
            </a:lnSpc>
            <a:defRPr cap="all"/>
          </a:pPr>
          <a:r>
            <a:rPr lang="en-US"/>
            <a:t>Outcome: The AI provided a clean, easy-to-read register of all dates, mileage, drive times, and time spent working on Estate tasks. </a:t>
          </a:r>
        </a:p>
      </dgm:t>
    </dgm:pt>
    <dgm:pt modelId="{5D1CBB89-48C4-4F34-BB6A-01225872921D}" type="parTrans" cxnId="{269D66C6-4A28-47F7-A809-F95BCE3046DC}">
      <dgm:prSet/>
      <dgm:spPr/>
      <dgm:t>
        <a:bodyPr/>
        <a:lstStyle/>
        <a:p>
          <a:endParaRPr lang="en-US"/>
        </a:p>
      </dgm:t>
    </dgm:pt>
    <dgm:pt modelId="{3C692601-1D10-4AD5-8911-2F5FAA7E969F}" type="sibTrans" cxnId="{269D66C6-4A28-47F7-A809-F95BCE3046DC}">
      <dgm:prSet/>
      <dgm:spPr/>
      <dgm:t>
        <a:bodyPr/>
        <a:lstStyle/>
        <a:p>
          <a:endParaRPr lang="en-US"/>
        </a:p>
      </dgm:t>
    </dgm:pt>
    <dgm:pt modelId="{06D2B115-905E-4710-AD21-56062DD62D1F}">
      <dgm:prSet/>
      <dgm:spPr/>
      <dgm:t>
        <a:bodyPr/>
        <a:lstStyle/>
        <a:p>
          <a:pPr>
            <a:lnSpc>
              <a:spcPct val="100000"/>
            </a:lnSpc>
            <a:defRPr cap="all"/>
          </a:pPr>
          <a:r>
            <a:rPr lang="en-US"/>
            <a:t>Where the human was needed: Drive time estimates in some places were significantly shorter than possible, necessitating human review before submission.</a:t>
          </a:r>
        </a:p>
      </dgm:t>
    </dgm:pt>
    <dgm:pt modelId="{807871C8-7160-48BA-BC11-6D88EA8D9A51}" type="parTrans" cxnId="{5DB59D99-3522-4ACB-ADEA-A6E3739BDD50}">
      <dgm:prSet/>
      <dgm:spPr/>
      <dgm:t>
        <a:bodyPr/>
        <a:lstStyle/>
        <a:p>
          <a:endParaRPr lang="en-US"/>
        </a:p>
      </dgm:t>
    </dgm:pt>
    <dgm:pt modelId="{97D03399-BDB3-4115-A9B9-3FAE7F2A09CE}" type="sibTrans" cxnId="{5DB59D99-3522-4ACB-ADEA-A6E3739BDD50}">
      <dgm:prSet/>
      <dgm:spPr/>
      <dgm:t>
        <a:bodyPr/>
        <a:lstStyle/>
        <a:p>
          <a:endParaRPr lang="en-US"/>
        </a:p>
      </dgm:t>
    </dgm:pt>
    <dgm:pt modelId="{0E478039-C9F9-4036-8C9A-634177F0BE8D}" type="pres">
      <dgm:prSet presAssocID="{8246CE56-4CB1-493B-9B3A-6657FD9ED96C}" presName="root" presStyleCnt="0">
        <dgm:presLayoutVars>
          <dgm:dir/>
          <dgm:resizeHandles val="exact"/>
        </dgm:presLayoutVars>
      </dgm:prSet>
      <dgm:spPr/>
    </dgm:pt>
    <dgm:pt modelId="{5D34438A-692F-45C8-BE76-12CCF3659F7A}" type="pres">
      <dgm:prSet presAssocID="{2BA8D68F-ACF8-47E0-A90F-BD0DA5C27425}" presName="compNode" presStyleCnt="0"/>
      <dgm:spPr/>
    </dgm:pt>
    <dgm:pt modelId="{2C5C79B0-00EC-41D4-A6F7-FA2039E76719}" type="pres">
      <dgm:prSet presAssocID="{2BA8D68F-ACF8-47E0-A90F-BD0DA5C27425}" presName="iconBgRect" presStyleLbl="bgShp" presStyleIdx="0" presStyleCnt="4"/>
      <dgm:spPr/>
    </dgm:pt>
    <dgm:pt modelId="{4C65183C-AFFF-47BF-BE50-1AF186776D78}" type="pres">
      <dgm:prSet presAssocID="{2BA8D68F-ACF8-47E0-A90F-BD0DA5C2742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Dollar"/>
        </a:ext>
      </dgm:extLst>
    </dgm:pt>
    <dgm:pt modelId="{ECD8DA86-AA1F-406A-AB39-97B5ED32FAC0}" type="pres">
      <dgm:prSet presAssocID="{2BA8D68F-ACF8-47E0-A90F-BD0DA5C27425}" presName="spaceRect" presStyleCnt="0"/>
      <dgm:spPr/>
    </dgm:pt>
    <dgm:pt modelId="{22B656D8-63CD-43F9-88B1-700697B9E8B7}" type="pres">
      <dgm:prSet presAssocID="{2BA8D68F-ACF8-47E0-A90F-BD0DA5C27425}" presName="textRect" presStyleLbl="revTx" presStyleIdx="0" presStyleCnt="4">
        <dgm:presLayoutVars>
          <dgm:chMax val="1"/>
          <dgm:chPref val="1"/>
        </dgm:presLayoutVars>
      </dgm:prSet>
      <dgm:spPr/>
    </dgm:pt>
    <dgm:pt modelId="{1544BE40-DDB7-44B5-9F79-914C35EF498C}" type="pres">
      <dgm:prSet presAssocID="{45044109-44FD-40A3-B37D-2AE82E7D7E96}" presName="sibTrans" presStyleCnt="0"/>
      <dgm:spPr/>
    </dgm:pt>
    <dgm:pt modelId="{79770591-AE7D-4BEB-A9AB-2B2CE18733CE}" type="pres">
      <dgm:prSet presAssocID="{40C5A821-B73D-4D22-A13D-0C641C06DCA6}" presName="compNode" presStyleCnt="0"/>
      <dgm:spPr/>
    </dgm:pt>
    <dgm:pt modelId="{8AF64A6C-71EB-4509-ACAB-423D100E3DAD}" type="pres">
      <dgm:prSet presAssocID="{40C5A821-B73D-4D22-A13D-0C641C06DCA6}" presName="iconBgRect" presStyleLbl="bgShp" presStyleIdx="1" presStyleCnt="4"/>
      <dgm:spPr/>
    </dgm:pt>
    <dgm:pt modelId="{6245570E-02DA-487E-8FD9-D1F7B278A58C}" type="pres">
      <dgm:prSet presAssocID="{40C5A821-B73D-4D22-A13D-0C641C06DCA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Quotes"/>
        </a:ext>
      </dgm:extLst>
    </dgm:pt>
    <dgm:pt modelId="{4B804919-8CE3-432F-8BA7-581EA6005200}" type="pres">
      <dgm:prSet presAssocID="{40C5A821-B73D-4D22-A13D-0C641C06DCA6}" presName="spaceRect" presStyleCnt="0"/>
      <dgm:spPr/>
    </dgm:pt>
    <dgm:pt modelId="{A0310D88-25C8-4783-9907-D712AB9BE0F7}" type="pres">
      <dgm:prSet presAssocID="{40C5A821-B73D-4D22-A13D-0C641C06DCA6}" presName="textRect" presStyleLbl="revTx" presStyleIdx="1" presStyleCnt="4">
        <dgm:presLayoutVars>
          <dgm:chMax val="1"/>
          <dgm:chPref val="1"/>
        </dgm:presLayoutVars>
      </dgm:prSet>
      <dgm:spPr/>
    </dgm:pt>
    <dgm:pt modelId="{1B935D7C-861A-4631-AA55-E7E336C039B9}" type="pres">
      <dgm:prSet presAssocID="{F8830351-17C9-44C8-B260-38A12A30A310}" presName="sibTrans" presStyleCnt="0"/>
      <dgm:spPr/>
    </dgm:pt>
    <dgm:pt modelId="{67B51495-B1A6-4D43-ADF2-0D30461FA244}" type="pres">
      <dgm:prSet presAssocID="{BBBB2DA9-7ED6-4FE2-AEF7-7147DB690672}" presName="compNode" presStyleCnt="0"/>
      <dgm:spPr/>
    </dgm:pt>
    <dgm:pt modelId="{5B09505B-0ED9-4271-B267-78036946E037}" type="pres">
      <dgm:prSet presAssocID="{BBBB2DA9-7ED6-4FE2-AEF7-7147DB690672}" presName="iconBgRect" presStyleLbl="bgShp" presStyleIdx="2" presStyleCnt="4"/>
      <dgm:spPr/>
    </dgm:pt>
    <dgm:pt modelId="{1B2BB469-5969-4CDF-9ECD-5F4EB340D5DD}" type="pres">
      <dgm:prSet presAssocID="{BBBB2DA9-7ED6-4FE2-AEF7-7147DB69067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Car"/>
        </a:ext>
      </dgm:extLst>
    </dgm:pt>
    <dgm:pt modelId="{85F6512A-6455-4C16-B45D-44088CCD6BE8}" type="pres">
      <dgm:prSet presAssocID="{BBBB2DA9-7ED6-4FE2-AEF7-7147DB690672}" presName="spaceRect" presStyleCnt="0"/>
      <dgm:spPr/>
    </dgm:pt>
    <dgm:pt modelId="{A14AAC38-8EC9-4487-A313-EEFCE1DCB53B}" type="pres">
      <dgm:prSet presAssocID="{BBBB2DA9-7ED6-4FE2-AEF7-7147DB690672}" presName="textRect" presStyleLbl="revTx" presStyleIdx="2" presStyleCnt="4">
        <dgm:presLayoutVars>
          <dgm:chMax val="1"/>
          <dgm:chPref val="1"/>
        </dgm:presLayoutVars>
      </dgm:prSet>
      <dgm:spPr/>
    </dgm:pt>
    <dgm:pt modelId="{6F59E34D-93E2-4CAA-A7D6-BA9957D57CE7}" type="pres">
      <dgm:prSet presAssocID="{3C692601-1D10-4AD5-8911-2F5FAA7E969F}" presName="sibTrans" presStyleCnt="0"/>
      <dgm:spPr/>
    </dgm:pt>
    <dgm:pt modelId="{023C19ED-F1E2-4CDC-AF50-00CD65FC8566}" type="pres">
      <dgm:prSet presAssocID="{06D2B115-905E-4710-AD21-56062DD62D1F}" presName="compNode" presStyleCnt="0"/>
      <dgm:spPr/>
    </dgm:pt>
    <dgm:pt modelId="{4D4782CC-F94D-478A-87E0-9C1A704AEE09}" type="pres">
      <dgm:prSet presAssocID="{06D2B115-905E-4710-AD21-56062DD62D1F}" presName="iconBgRect" presStyleLbl="bgShp" presStyleIdx="3" presStyleCnt="4"/>
      <dgm:spPr/>
    </dgm:pt>
    <dgm:pt modelId="{56C88A04-356D-4FA3-B474-7F7F07FBF01F}" type="pres">
      <dgm:prSet presAssocID="{06D2B115-905E-4710-AD21-56062DD62D1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peed Bump"/>
        </a:ext>
      </dgm:extLst>
    </dgm:pt>
    <dgm:pt modelId="{F7244050-0D37-493C-9070-48D4D21C19AA}" type="pres">
      <dgm:prSet presAssocID="{06D2B115-905E-4710-AD21-56062DD62D1F}" presName="spaceRect" presStyleCnt="0"/>
      <dgm:spPr/>
    </dgm:pt>
    <dgm:pt modelId="{9D607308-4899-4243-A016-72C7C0D9DBB3}" type="pres">
      <dgm:prSet presAssocID="{06D2B115-905E-4710-AD21-56062DD62D1F}" presName="textRect" presStyleLbl="revTx" presStyleIdx="3" presStyleCnt="4">
        <dgm:presLayoutVars>
          <dgm:chMax val="1"/>
          <dgm:chPref val="1"/>
        </dgm:presLayoutVars>
      </dgm:prSet>
      <dgm:spPr/>
    </dgm:pt>
  </dgm:ptLst>
  <dgm:cxnLst>
    <dgm:cxn modelId="{2266F01C-E446-3E40-93C9-EF174330E89F}" type="presOf" srcId="{BBBB2DA9-7ED6-4FE2-AEF7-7147DB690672}" destId="{A14AAC38-8EC9-4487-A313-EEFCE1DCB53B}" srcOrd="0" destOrd="0" presId="urn:microsoft.com/office/officeart/2018/5/layout/IconCircleLabelList"/>
    <dgm:cxn modelId="{BD92BB4F-0687-40CE-B965-5063A44EB9A5}" srcId="{8246CE56-4CB1-493B-9B3A-6657FD9ED96C}" destId="{2BA8D68F-ACF8-47E0-A90F-BD0DA5C27425}" srcOrd="0" destOrd="0" parTransId="{51E7CBED-1E57-4B36-8CEF-99E6B9676243}" sibTransId="{45044109-44FD-40A3-B37D-2AE82E7D7E96}"/>
    <dgm:cxn modelId="{5DB59D99-3522-4ACB-ADEA-A6E3739BDD50}" srcId="{8246CE56-4CB1-493B-9B3A-6657FD9ED96C}" destId="{06D2B115-905E-4710-AD21-56062DD62D1F}" srcOrd="3" destOrd="0" parTransId="{807871C8-7160-48BA-BC11-6D88EA8D9A51}" sibTransId="{97D03399-BDB3-4115-A9B9-3FAE7F2A09CE}"/>
    <dgm:cxn modelId="{6E20BCB9-7FA8-4BF6-9AA7-CEAF1D1B5BF3}" srcId="{8246CE56-4CB1-493B-9B3A-6657FD9ED96C}" destId="{40C5A821-B73D-4D22-A13D-0C641C06DCA6}" srcOrd="1" destOrd="0" parTransId="{B73DCDF7-CFEA-47BA-B5C9-893AA56D3D70}" sibTransId="{F8830351-17C9-44C8-B260-38A12A30A310}"/>
    <dgm:cxn modelId="{269D66C6-4A28-47F7-A809-F95BCE3046DC}" srcId="{8246CE56-4CB1-493B-9B3A-6657FD9ED96C}" destId="{BBBB2DA9-7ED6-4FE2-AEF7-7147DB690672}" srcOrd="2" destOrd="0" parTransId="{5D1CBB89-48C4-4F34-BB6A-01225872921D}" sibTransId="{3C692601-1D10-4AD5-8911-2F5FAA7E969F}"/>
    <dgm:cxn modelId="{45F37FC8-B99B-4647-A914-01F4948DF05B}" type="presOf" srcId="{8246CE56-4CB1-493B-9B3A-6657FD9ED96C}" destId="{0E478039-C9F9-4036-8C9A-634177F0BE8D}" srcOrd="0" destOrd="0" presId="urn:microsoft.com/office/officeart/2018/5/layout/IconCircleLabelList"/>
    <dgm:cxn modelId="{2F1531DB-B577-CD43-8B6C-5A8E9865BC53}" type="presOf" srcId="{06D2B115-905E-4710-AD21-56062DD62D1F}" destId="{9D607308-4899-4243-A016-72C7C0D9DBB3}" srcOrd="0" destOrd="0" presId="urn:microsoft.com/office/officeart/2018/5/layout/IconCircleLabelList"/>
    <dgm:cxn modelId="{A804B2FC-9852-CD4C-BCBC-E902B8264202}" type="presOf" srcId="{40C5A821-B73D-4D22-A13D-0C641C06DCA6}" destId="{A0310D88-25C8-4783-9907-D712AB9BE0F7}" srcOrd="0" destOrd="0" presId="urn:microsoft.com/office/officeart/2018/5/layout/IconCircleLabelList"/>
    <dgm:cxn modelId="{02FF9FFE-C230-B846-8C26-F8C135A7D6DB}" type="presOf" srcId="{2BA8D68F-ACF8-47E0-A90F-BD0DA5C27425}" destId="{22B656D8-63CD-43F9-88B1-700697B9E8B7}" srcOrd="0" destOrd="0" presId="urn:microsoft.com/office/officeart/2018/5/layout/IconCircleLabelList"/>
    <dgm:cxn modelId="{8B38D1B0-F288-6945-A3E5-D47F167AEE2D}" type="presParOf" srcId="{0E478039-C9F9-4036-8C9A-634177F0BE8D}" destId="{5D34438A-692F-45C8-BE76-12CCF3659F7A}" srcOrd="0" destOrd="0" presId="urn:microsoft.com/office/officeart/2018/5/layout/IconCircleLabelList"/>
    <dgm:cxn modelId="{B7A12F1C-839A-AF44-B21B-CB44289A1C71}" type="presParOf" srcId="{5D34438A-692F-45C8-BE76-12CCF3659F7A}" destId="{2C5C79B0-00EC-41D4-A6F7-FA2039E76719}" srcOrd="0" destOrd="0" presId="urn:microsoft.com/office/officeart/2018/5/layout/IconCircleLabelList"/>
    <dgm:cxn modelId="{1ABCC322-2CC5-3149-9DB7-531B96AD1B96}" type="presParOf" srcId="{5D34438A-692F-45C8-BE76-12CCF3659F7A}" destId="{4C65183C-AFFF-47BF-BE50-1AF186776D78}" srcOrd="1" destOrd="0" presId="urn:microsoft.com/office/officeart/2018/5/layout/IconCircleLabelList"/>
    <dgm:cxn modelId="{AFD508B3-8C37-C74A-B652-F051DAB05960}" type="presParOf" srcId="{5D34438A-692F-45C8-BE76-12CCF3659F7A}" destId="{ECD8DA86-AA1F-406A-AB39-97B5ED32FAC0}" srcOrd="2" destOrd="0" presId="urn:microsoft.com/office/officeart/2018/5/layout/IconCircleLabelList"/>
    <dgm:cxn modelId="{5E742104-8C5E-F24A-A203-FB9AC765E96F}" type="presParOf" srcId="{5D34438A-692F-45C8-BE76-12CCF3659F7A}" destId="{22B656D8-63CD-43F9-88B1-700697B9E8B7}" srcOrd="3" destOrd="0" presId="urn:microsoft.com/office/officeart/2018/5/layout/IconCircleLabelList"/>
    <dgm:cxn modelId="{19CB64BA-D5A1-DD40-9492-87604EF9B3F9}" type="presParOf" srcId="{0E478039-C9F9-4036-8C9A-634177F0BE8D}" destId="{1544BE40-DDB7-44B5-9F79-914C35EF498C}" srcOrd="1" destOrd="0" presId="urn:microsoft.com/office/officeart/2018/5/layout/IconCircleLabelList"/>
    <dgm:cxn modelId="{172DE909-8C9B-9F49-AC3D-27A2B5176B2B}" type="presParOf" srcId="{0E478039-C9F9-4036-8C9A-634177F0BE8D}" destId="{79770591-AE7D-4BEB-A9AB-2B2CE18733CE}" srcOrd="2" destOrd="0" presId="urn:microsoft.com/office/officeart/2018/5/layout/IconCircleLabelList"/>
    <dgm:cxn modelId="{391097CD-B7B9-E848-9311-739B21BFA3B9}" type="presParOf" srcId="{79770591-AE7D-4BEB-A9AB-2B2CE18733CE}" destId="{8AF64A6C-71EB-4509-ACAB-423D100E3DAD}" srcOrd="0" destOrd="0" presId="urn:microsoft.com/office/officeart/2018/5/layout/IconCircleLabelList"/>
    <dgm:cxn modelId="{AA145CE5-7742-0E44-975D-1F9FDE4E2B7D}" type="presParOf" srcId="{79770591-AE7D-4BEB-A9AB-2B2CE18733CE}" destId="{6245570E-02DA-487E-8FD9-D1F7B278A58C}" srcOrd="1" destOrd="0" presId="urn:microsoft.com/office/officeart/2018/5/layout/IconCircleLabelList"/>
    <dgm:cxn modelId="{C896A73E-0BF8-F14D-ACD1-B4C6E01FD720}" type="presParOf" srcId="{79770591-AE7D-4BEB-A9AB-2B2CE18733CE}" destId="{4B804919-8CE3-432F-8BA7-581EA6005200}" srcOrd="2" destOrd="0" presId="urn:microsoft.com/office/officeart/2018/5/layout/IconCircleLabelList"/>
    <dgm:cxn modelId="{94AEA9A5-F49A-C848-AC94-E40FE5DB5038}" type="presParOf" srcId="{79770591-AE7D-4BEB-A9AB-2B2CE18733CE}" destId="{A0310D88-25C8-4783-9907-D712AB9BE0F7}" srcOrd="3" destOrd="0" presId="urn:microsoft.com/office/officeart/2018/5/layout/IconCircleLabelList"/>
    <dgm:cxn modelId="{4054E5A9-CBCF-7643-A9EB-53B32506B4CF}" type="presParOf" srcId="{0E478039-C9F9-4036-8C9A-634177F0BE8D}" destId="{1B935D7C-861A-4631-AA55-E7E336C039B9}" srcOrd="3" destOrd="0" presId="urn:microsoft.com/office/officeart/2018/5/layout/IconCircleLabelList"/>
    <dgm:cxn modelId="{7334A843-8A4F-0F4D-80A1-38FD0FD8D41B}" type="presParOf" srcId="{0E478039-C9F9-4036-8C9A-634177F0BE8D}" destId="{67B51495-B1A6-4D43-ADF2-0D30461FA244}" srcOrd="4" destOrd="0" presId="urn:microsoft.com/office/officeart/2018/5/layout/IconCircleLabelList"/>
    <dgm:cxn modelId="{63F569B1-1566-3F41-A02C-C4ACEFE7D4B6}" type="presParOf" srcId="{67B51495-B1A6-4D43-ADF2-0D30461FA244}" destId="{5B09505B-0ED9-4271-B267-78036946E037}" srcOrd="0" destOrd="0" presId="urn:microsoft.com/office/officeart/2018/5/layout/IconCircleLabelList"/>
    <dgm:cxn modelId="{C92B2D8C-0699-3949-981A-83D0638F7B5F}" type="presParOf" srcId="{67B51495-B1A6-4D43-ADF2-0D30461FA244}" destId="{1B2BB469-5969-4CDF-9ECD-5F4EB340D5DD}" srcOrd="1" destOrd="0" presId="urn:microsoft.com/office/officeart/2018/5/layout/IconCircleLabelList"/>
    <dgm:cxn modelId="{91E5335E-43BB-F349-A660-E2B699F3464E}" type="presParOf" srcId="{67B51495-B1A6-4D43-ADF2-0D30461FA244}" destId="{85F6512A-6455-4C16-B45D-44088CCD6BE8}" srcOrd="2" destOrd="0" presId="urn:microsoft.com/office/officeart/2018/5/layout/IconCircleLabelList"/>
    <dgm:cxn modelId="{ECE9E355-958A-3949-AC38-D461192F5FE8}" type="presParOf" srcId="{67B51495-B1A6-4D43-ADF2-0D30461FA244}" destId="{A14AAC38-8EC9-4487-A313-EEFCE1DCB53B}" srcOrd="3" destOrd="0" presId="urn:microsoft.com/office/officeart/2018/5/layout/IconCircleLabelList"/>
    <dgm:cxn modelId="{E564BAD0-3463-E741-88E2-2ECC833DF144}" type="presParOf" srcId="{0E478039-C9F9-4036-8C9A-634177F0BE8D}" destId="{6F59E34D-93E2-4CAA-A7D6-BA9957D57CE7}" srcOrd="5" destOrd="0" presId="urn:microsoft.com/office/officeart/2018/5/layout/IconCircleLabelList"/>
    <dgm:cxn modelId="{998C5C84-3C1B-CD4E-814D-D73DB92049EE}" type="presParOf" srcId="{0E478039-C9F9-4036-8C9A-634177F0BE8D}" destId="{023C19ED-F1E2-4CDC-AF50-00CD65FC8566}" srcOrd="6" destOrd="0" presId="urn:microsoft.com/office/officeart/2018/5/layout/IconCircleLabelList"/>
    <dgm:cxn modelId="{C914D31A-EFCC-F848-8967-CCF68FA8DC60}" type="presParOf" srcId="{023C19ED-F1E2-4CDC-AF50-00CD65FC8566}" destId="{4D4782CC-F94D-478A-87E0-9C1A704AEE09}" srcOrd="0" destOrd="0" presId="urn:microsoft.com/office/officeart/2018/5/layout/IconCircleLabelList"/>
    <dgm:cxn modelId="{3DE3F587-AB65-8D4F-A387-0941428BBC7D}" type="presParOf" srcId="{023C19ED-F1E2-4CDC-AF50-00CD65FC8566}" destId="{56C88A04-356D-4FA3-B474-7F7F07FBF01F}" srcOrd="1" destOrd="0" presId="urn:microsoft.com/office/officeart/2018/5/layout/IconCircleLabelList"/>
    <dgm:cxn modelId="{EA3F4AA9-3680-CE4A-A1F3-2510C0D2F6A2}" type="presParOf" srcId="{023C19ED-F1E2-4CDC-AF50-00CD65FC8566}" destId="{F7244050-0D37-493C-9070-48D4D21C19AA}" srcOrd="2" destOrd="0" presId="urn:microsoft.com/office/officeart/2018/5/layout/IconCircleLabelList"/>
    <dgm:cxn modelId="{D2F841C7-0D08-1041-9EFC-16125134B528}" type="presParOf" srcId="{023C19ED-F1E2-4CDC-AF50-00CD65FC8566}" destId="{9D607308-4899-4243-A016-72C7C0D9DBB3}" srcOrd="3" destOrd="0" presId="urn:microsoft.com/office/officeart/2018/5/layout/IconCircleLabel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75A55C-83B3-4BB7-ABD0-53C41D7F8CB5}" type="doc">
      <dgm:prSet loTypeId="urn:microsoft.com/office/officeart/2018/5/layout/IconCircleLabelList" loCatId="icon" qsTypeId="urn:microsoft.com/office/officeart/2005/8/quickstyle/simple1#90" qsCatId="simple" csTypeId="urn:microsoft.com/office/officeart/2018/5/colors/Iconchunking_neutralicon_colorful1" csCatId="colorful" phldr="1"/>
      <dgm:spPr/>
      <dgm:t>
        <a:bodyPr/>
        <a:lstStyle/>
        <a:p>
          <a:endParaRPr lang="en-US"/>
        </a:p>
      </dgm:t>
    </dgm:pt>
    <dgm:pt modelId="{678D30C6-D856-4562-8F34-9ECD2E7F84F4}">
      <dgm:prSet/>
      <dgm:spPr/>
      <dgm:t>
        <a:bodyPr/>
        <a:lstStyle/>
        <a:p>
          <a:pPr>
            <a:defRPr cap="all"/>
          </a:pPr>
          <a:r>
            <a:rPr lang="en-US"/>
            <a:t>In this unique aspect of life, ‘colleague’ doesn’t quite fit the bill, but almost everyone encounters this duty in life, so it is applicable to all. </a:t>
          </a:r>
        </a:p>
      </dgm:t>
    </dgm:pt>
    <dgm:pt modelId="{8E18B11F-E36F-43AA-A597-AB3ECBB8A8C5}" type="parTrans" cxnId="{1D408643-AE2E-489C-8E15-FC13CDF8DEC5}">
      <dgm:prSet/>
      <dgm:spPr/>
      <dgm:t>
        <a:bodyPr/>
        <a:lstStyle/>
        <a:p>
          <a:endParaRPr lang="en-US"/>
        </a:p>
      </dgm:t>
    </dgm:pt>
    <dgm:pt modelId="{B8732AEB-3F7D-4917-BF54-707CAFE004ED}" type="sibTrans" cxnId="{1D408643-AE2E-489C-8E15-FC13CDF8DEC5}">
      <dgm:prSet/>
      <dgm:spPr/>
      <dgm:t>
        <a:bodyPr/>
        <a:lstStyle/>
        <a:p>
          <a:endParaRPr lang="en-US"/>
        </a:p>
      </dgm:t>
    </dgm:pt>
    <dgm:pt modelId="{3EB0A886-D350-4B82-B3DB-B4EB2C362A03}">
      <dgm:prSet/>
      <dgm:spPr/>
      <dgm:t>
        <a:bodyPr/>
        <a:lstStyle/>
        <a:p>
          <a:pPr>
            <a:defRPr cap="all"/>
          </a:pPr>
          <a:r>
            <a:rPr lang="en-US"/>
            <a:t>I would tell someone who repeated that claim that it refers to legal </a:t>
          </a:r>
          <a:r>
            <a:rPr lang="en-US" i="1"/>
            <a:t>professionals</a:t>
          </a:r>
          <a:r>
            <a:rPr lang="en-US"/>
            <a:t>, not administrators completing work on behalf of family members, and that it had to do with drafting responses, for example, to questions that administrators would send to legal professionals. </a:t>
          </a:r>
        </a:p>
      </dgm:t>
    </dgm:pt>
    <dgm:pt modelId="{0573D72E-A843-4D64-A0CC-24E37720C492}" type="parTrans" cxnId="{8C95ABF6-8A79-424A-8521-EB2082EA48D9}">
      <dgm:prSet/>
      <dgm:spPr/>
      <dgm:t>
        <a:bodyPr/>
        <a:lstStyle/>
        <a:p>
          <a:endParaRPr lang="en-US"/>
        </a:p>
      </dgm:t>
    </dgm:pt>
    <dgm:pt modelId="{AC705A16-C49D-4A3A-8FBE-A68B6F91AC29}" type="sibTrans" cxnId="{8C95ABF6-8A79-424A-8521-EB2082EA48D9}">
      <dgm:prSet/>
      <dgm:spPr/>
      <dgm:t>
        <a:bodyPr/>
        <a:lstStyle/>
        <a:p>
          <a:endParaRPr lang="en-US"/>
        </a:p>
      </dgm:t>
    </dgm:pt>
    <dgm:pt modelId="{1F5BBF4C-3D0D-4D13-B2DF-37C767E17C76}" type="pres">
      <dgm:prSet presAssocID="{E075A55C-83B3-4BB7-ABD0-53C41D7F8CB5}" presName="root" presStyleCnt="0">
        <dgm:presLayoutVars>
          <dgm:dir/>
          <dgm:resizeHandles val="exact"/>
        </dgm:presLayoutVars>
      </dgm:prSet>
      <dgm:spPr/>
    </dgm:pt>
    <dgm:pt modelId="{DCCC0929-0A21-495A-814E-BDC096DAEC1D}" type="pres">
      <dgm:prSet presAssocID="{678D30C6-D856-4562-8F34-9ECD2E7F84F4}" presName="compNode" presStyleCnt="0"/>
      <dgm:spPr/>
    </dgm:pt>
    <dgm:pt modelId="{8C01E3FE-82F9-4C03-8D4C-C669C33914C6}" type="pres">
      <dgm:prSet presAssocID="{678D30C6-D856-4562-8F34-9ECD2E7F84F4}" presName="iconBgRect" presStyleLbl="bgShp" presStyleIdx="0" presStyleCnt="2"/>
      <dgm:spPr/>
    </dgm:pt>
    <dgm:pt modelId="{AE7E8D1A-A447-466C-810F-7CD2274DC594}" type="pres">
      <dgm:prSet presAssocID="{678D30C6-D856-4562-8F34-9ECD2E7F84F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Irritant"/>
        </a:ext>
      </dgm:extLst>
    </dgm:pt>
    <dgm:pt modelId="{635009D0-AAEA-4B1A-96F7-37AAC9D4150B}" type="pres">
      <dgm:prSet presAssocID="{678D30C6-D856-4562-8F34-9ECD2E7F84F4}" presName="spaceRect" presStyleCnt="0"/>
      <dgm:spPr/>
    </dgm:pt>
    <dgm:pt modelId="{AFFF6562-7116-4FD5-9065-D3B851F1D006}" type="pres">
      <dgm:prSet presAssocID="{678D30C6-D856-4562-8F34-9ECD2E7F84F4}" presName="textRect" presStyleLbl="revTx" presStyleIdx="0" presStyleCnt="2">
        <dgm:presLayoutVars>
          <dgm:chMax val="1"/>
          <dgm:chPref val="1"/>
        </dgm:presLayoutVars>
      </dgm:prSet>
      <dgm:spPr/>
    </dgm:pt>
    <dgm:pt modelId="{FB00FBE4-AF1A-45BD-812F-7FB5F8F84F91}" type="pres">
      <dgm:prSet presAssocID="{B8732AEB-3F7D-4917-BF54-707CAFE004ED}" presName="sibTrans" presStyleCnt="0"/>
      <dgm:spPr/>
    </dgm:pt>
    <dgm:pt modelId="{AEAEC574-0F7D-4B1D-8444-DCCB3F2BB1EA}" type="pres">
      <dgm:prSet presAssocID="{3EB0A886-D350-4B82-B3DB-B4EB2C362A03}" presName="compNode" presStyleCnt="0"/>
      <dgm:spPr/>
    </dgm:pt>
    <dgm:pt modelId="{A75F24E2-6DD1-40E3-BE54-31C66C73A4B6}" type="pres">
      <dgm:prSet presAssocID="{3EB0A886-D350-4B82-B3DB-B4EB2C362A03}" presName="iconBgRect" presStyleLbl="bgShp" presStyleIdx="1" presStyleCnt="2"/>
      <dgm:spPr/>
    </dgm:pt>
    <dgm:pt modelId="{2BA2F018-CC38-4935-9CFD-198184F88E63}" type="pres">
      <dgm:prSet presAssocID="{3EB0A886-D350-4B82-B3DB-B4EB2C362A0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95984516-96F6-4558-8900-8E500FCEE141}" type="pres">
      <dgm:prSet presAssocID="{3EB0A886-D350-4B82-B3DB-B4EB2C362A03}" presName="spaceRect" presStyleCnt="0"/>
      <dgm:spPr/>
    </dgm:pt>
    <dgm:pt modelId="{AA6A13BF-A7FC-4A17-86D5-A7682A4E76E9}" type="pres">
      <dgm:prSet presAssocID="{3EB0A886-D350-4B82-B3DB-B4EB2C362A03}" presName="textRect" presStyleLbl="revTx" presStyleIdx="1" presStyleCnt="2">
        <dgm:presLayoutVars>
          <dgm:chMax val="1"/>
          <dgm:chPref val="1"/>
        </dgm:presLayoutVars>
      </dgm:prSet>
      <dgm:spPr/>
    </dgm:pt>
  </dgm:ptLst>
  <dgm:cxnLst>
    <dgm:cxn modelId="{AFCCF00A-7521-4438-BEB2-DDE56C8927C6}" type="presOf" srcId="{3EB0A886-D350-4B82-B3DB-B4EB2C362A03}" destId="{AA6A13BF-A7FC-4A17-86D5-A7682A4E76E9}" srcOrd="0" destOrd="0" presId="urn:microsoft.com/office/officeart/2018/5/layout/IconCircleLabelList"/>
    <dgm:cxn modelId="{1D408643-AE2E-489C-8E15-FC13CDF8DEC5}" srcId="{E075A55C-83B3-4BB7-ABD0-53C41D7F8CB5}" destId="{678D30C6-D856-4562-8F34-9ECD2E7F84F4}" srcOrd="0" destOrd="0" parTransId="{8E18B11F-E36F-43AA-A597-AB3ECBB8A8C5}" sibTransId="{B8732AEB-3F7D-4917-BF54-707CAFE004ED}"/>
    <dgm:cxn modelId="{7A7C1480-2930-4427-BEDC-A06A0BB9DAB7}" type="presOf" srcId="{E075A55C-83B3-4BB7-ABD0-53C41D7F8CB5}" destId="{1F5BBF4C-3D0D-4D13-B2DF-37C767E17C76}" srcOrd="0" destOrd="0" presId="urn:microsoft.com/office/officeart/2018/5/layout/IconCircleLabelList"/>
    <dgm:cxn modelId="{76ED02D1-C580-4B6A-8FE7-006F4B5B8405}" type="presOf" srcId="{678D30C6-D856-4562-8F34-9ECD2E7F84F4}" destId="{AFFF6562-7116-4FD5-9065-D3B851F1D006}" srcOrd="0" destOrd="0" presId="urn:microsoft.com/office/officeart/2018/5/layout/IconCircleLabelList"/>
    <dgm:cxn modelId="{8C95ABF6-8A79-424A-8521-EB2082EA48D9}" srcId="{E075A55C-83B3-4BB7-ABD0-53C41D7F8CB5}" destId="{3EB0A886-D350-4B82-B3DB-B4EB2C362A03}" srcOrd="1" destOrd="0" parTransId="{0573D72E-A843-4D64-A0CC-24E37720C492}" sibTransId="{AC705A16-C49D-4A3A-8FBE-A68B6F91AC29}"/>
    <dgm:cxn modelId="{A4B923A4-D694-4BEE-B15E-3BA93554FB7F}" type="presParOf" srcId="{1F5BBF4C-3D0D-4D13-B2DF-37C767E17C76}" destId="{DCCC0929-0A21-495A-814E-BDC096DAEC1D}" srcOrd="0" destOrd="0" presId="urn:microsoft.com/office/officeart/2018/5/layout/IconCircleLabelList"/>
    <dgm:cxn modelId="{9857D1AC-6461-4FED-811E-BFF8F02A801D}" type="presParOf" srcId="{DCCC0929-0A21-495A-814E-BDC096DAEC1D}" destId="{8C01E3FE-82F9-4C03-8D4C-C669C33914C6}" srcOrd="0" destOrd="0" presId="urn:microsoft.com/office/officeart/2018/5/layout/IconCircleLabelList"/>
    <dgm:cxn modelId="{FC80958F-8A04-4330-A9BB-DC439F5A231B}" type="presParOf" srcId="{DCCC0929-0A21-495A-814E-BDC096DAEC1D}" destId="{AE7E8D1A-A447-466C-810F-7CD2274DC594}" srcOrd="1" destOrd="0" presId="urn:microsoft.com/office/officeart/2018/5/layout/IconCircleLabelList"/>
    <dgm:cxn modelId="{81DDB263-097E-4AD6-A106-9FC37E3C750A}" type="presParOf" srcId="{DCCC0929-0A21-495A-814E-BDC096DAEC1D}" destId="{635009D0-AAEA-4B1A-96F7-37AAC9D4150B}" srcOrd="2" destOrd="0" presId="urn:microsoft.com/office/officeart/2018/5/layout/IconCircleLabelList"/>
    <dgm:cxn modelId="{0FAAA2D1-6873-4803-9F32-3067800F2D1A}" type="presParOf" srcId="{DCCC0929-0A21-495A-814E-BDC096DAEC1D}" destId="{AFFF6562-7116-4FD5-9065-D3B851F1D006}" srcOrd="3" destOrd="0" presId="urn:microsoft.com/office/officeart/2018/5/layout/IconCircleLabelList"/>
    <dgm:cxn modelId="{EBB85CDE-0663-4F6D-BC67-5F75753745A1}" type="presParOf" srcId="{1F5BBF4C-3D0D-4D13-B2DF-37C767E17C76}" destId="{FB00FBE4-AF1A-45BD-812F-7FB5F8F84F91}" srcOrd="1" destOrd="0" presId="urn:microsoft.com/office/officeart/2018/5/layout/IconCircleLabelList"/>
    <dgm:cxn modelId="{CDBEFA92-E555-46AF-A8EB-998AD26204E1}" type="presParOf" srcId="{1F5BBF4C-3D0D-4D13-B2DF-37C767E17C76}" destId="{AEAEC574-0F7D-4B1D-8444-DCCB3F2BB1EA}" srcOrd="2" destOrd="0" presId="urn:microsoft.com/office/officeart/2018/5/layout/IconCircleLabelList"/>
    <dgm:cxn modelId="{C157E623-9ED8-4A48-B828-215713683A6D}" type="presParOf" srcId="{AEAEC574-0F7D-4B1D-8444-DCCB3F2BB1EA}" destId="{A75F24E2-6DD1-40E3-BE54-31C66C73A4B6}" srcOrd="0" destOrd="0" presId="urn:microsoft.com/office/officeart/2018/5/layout/IconCircleLabelList"/>
    <dgm:cxn modelId="{FCC27BB0-C5F1-4611-B9F6-D890B6536FF2}" type="presParOf" srcId="{AEAEC574-0F7D-4B1D-8444-DCCB3F2BB1EA}" destId="{2BA2F018-CC38-4935-9CFD-198184F88E63}" srcOrd="1" destOrd="0" presId="urn:microsoft.com/office/officeart/2018/5/layout/IconCircleLabelList"/>
    <dgm:cxn modelId="{B70443E5-A9C7-48B5-8208-BF9E6636685F}" type="presParOf" srcId="{AEAEC574-0F7D-4B1D-8444-DCCB3F2BB1EA}" destId="{95984516-96F6-4558-8900-8E500FCEE141}" srcOrd="2" destOrd="0" presId="urn:microsoft.com/office/officeart/2018/5/layout/IconCircleLabelList"/>
    <dgm:cxn modelId="{CC55C7D3-1BBB-463C-9D2A-037681A9EB50}" type="presParOf" srcId="{AEAEC574-0F7D-4B1D-8444-DCCB3F2BB1EA}" destId="{AA6A13BF-A7FC-4A17-86D5-A7682A4E76E9}" srcOrd="3" destOrd="0" presId="urn:microsoft.com/office/officeart/2018/5/layout/IconCircle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D130F4-0B53-4E6A-9DB6-887E7CCFEB5D}" type="doc">
      <dgm:prSet loTypeId="urn:microsoft.com/office/officeart/2018/2/layout/IconVerticalSolidList" loCatId="icon" qsTypeId="urn:microsoft.com/office/officeart/2005/8/quickstyle/simple1#105" qsCatId="simple" csTypeId="urn:microsoft.com/office/officeart/2018/5/colors/Iconchunking_neutralicontext_colorful2" csCatId="colorful" phldr="1"/>
      <dgm:spPr/>
      <dgm:t>
        <a:bodyPr/>
        <a:lstStyle/>
        <a:p>
          <a:endParaRPr lang="en-US"/>
        </a:p>
      </dgm:t>
    </dgm:pt>
    <dgm:pt modelId="{DBFEDC5F-F224-4952-9D2E-DA305E771FE0}">
      <dgm:prSet/>
      <dgm:spPr/>
      <dgm:t>
        <a:bodyPr/>
        <a:lstStyle/>
        <a:p>
          <a:r>
            <a:rPr lang="en-US"/>
            <a:t>AI can help with burdensome mundane tasks, but it must be checked for hallucinations and dropping important details</a:t>
          </a:r>
        </a:p>
      </dgm:t>
    </dgm:pt>
    <dgm:pt modelId="{DF08D49D-D0E2-41EB-8A03-C81DD43D421F}" type="parTrans" cxnId="{1E2BAAB8-34EA-4E15-B54A-7B46A383FB0B}">
      <dgm:prSet/>
      <dgm:spPr/>
      <dgm:t>
        <a:bodyPr/>
        <a:lstStyle/>
        <a:p>
          <a:endParaRPr lang="en-US"/>
        </a:p>
      </dgm:t>
    </dgm:pt>
    <dgm:pt modelId="{8EAC0395-17D8-401B-877A-3D1E3877FA8F}" type="sibTrans" cxnId="{1E2BAAB8-34EA-4E15-B54A-7B46A383FB0B}">
      <dgm:prSet/>
      <dgm:spPr/>
      <dgm:t>
        <a:bodyPr/>
        <a:lstStyle/>
        <a:p>
          <a:endParaRPr lang="en-US"/>
        </a:p>
      </dgm:t>
    </dgm:pt>
    <dgm:pt modelId="{4DB3F027-08BE-4063-A641-2A7BE758EAD8}">
      <dgm:prSet/>
      <dgm:spPr/>
      <dgm:t>
        <a:bodyPr/>
        <a:lstStyle/>
        <a:p>
          <a:r>
            <a:rPr lang="en-US"/>
            <a:t>AI can confidently produce incorrect figures that must be independently checked. Using the S.I.F.T. method helps here.</a:t>
          </a:r>
        </a:p>
      </dgm:t>
    </dgm:pt>
    <dgm:pt modelId="{991CF92A-7434-4FED-945D-226913B0711E}" type="parTrans" cxnId="{AE1BBED1-F9AD-4ED6-9EE1-D4FB37CD35EE}">
      <dgm:prSet/>
      <dgm:spPr/>
      <dgm:t>
        <a:bodyPr/>
        <a:lstStyle/>
        <a:p>
          <a:endParaRPr lang="en-US"/>
        </a:p>
      </dgm:t>
    </dgm:pt>
    <dgm:pt modelId="{CD98E609-724C-4CE8-A04D-8863A1A1138C}" type="sibTrans" cxnId="{AE1BBED1-F9AD-4ED6-9EE1-D4FB37CD35EE}">
      <dgm:prSet/>
      <dgm:spPr/>
      <dgm:t>
        <a:bodyPr/>
        <a:lstStyle/>
        <a:p>
          <a:endParaRPr lang="en-US"/>
        </a:p>
      </dgm:t>
    </dgm:pt>
    <dgm:pt modelId="{D4459558-AD1E-4F86-B064-1882D10D285D}">
      <dgm:prSet/>
      <dgm:spPr/>
      <dgm:t>
        <a:bodyPr/>
        <a:lstStyle/>
        <a:p>
          <a:r>
            <a:rPr lang="en-US"/>
            <a:t>When managing the affairs of a loved one, hands-on management is irreplaceable. Complex ambiguity, physical cleanout and distributions, and legal liability remain in the hands of a human.</a:t>
          </a:r>
        </a:p>
      </dgm:t>
    </dgm:pt>
    <dgm:pt modelId="{1F67D04E-2C19-429C-80D3-8229DB3DD5DC}" type="parTrans" cxnId="{A6D3F3E0-E390-44D3-A0B3-49434900B981}">
      <dgm:prSet/>
      <dgm:spPr/>
      <dgm:t>
        <a:bodyPr/>
        <a:lstStyle/>
        <a:p>
          <a:endParaRPr lang="en-US"/>
        </a:p>
      </dgm:t>
    </dgm:pt>
    <dgm:pt modelId="{61559FF3-95FD-415C-A3EF-59DECD6662B7}" type="sibTrans" cxnId="{A6D3F3E0-E390-44D3-A0B3-49434900B981}">
      <dgm:prSet/>
      <dgm:spPr/>
      <dgm:t>
        <a:bodyPr/>
        <a:lstStyle/>
        <a:p>
          <a:endParaRPr lang="en-US"/>
        </a:p>
      </dgm:t>
    </dgm:pt>
    <dgm:pt modelId="{167215DB-1D51-4B48-ABA9-87A440D6FBCC}" type="pres">
      <dgm:prSet presAssocID="{05D130F4-0B53-4E6A-9DB6-887E7CCFEB5D}" presName="root" presStyleCnt="0">
        <dgm:presLayoutVars>
          <dgm:dir/>
          <dgm:resizeHandles val="exact"/>
        </dgm:presLayoutVars>
      </dgm:prSet>
      <dgm:spPr/>
    </dgm:pt>
    <dgm:pt modelId="{E69295D2-B1C3-428B-8B33-1C51FA061DEA}" type="pres">
      <dgm:prSet presAssocID="{DBFEDC5F-F224-4952-9D2E-DA305E771FE0}" presName="compNode" presStyleCnt="0"/>
      <dgm:spPr/>
    </dgm:pt>
    <dgm:pt modelId="{7B27D4B1-0353-40FD-B07E-89612C5F3A09}" type="pres">
      <dgm:prSet presAssocID="{DBFEDC5F-F224-4952-9D2E-DA305E771FE0}" presName="bgRect" presStyleLbl="bgShp" presStyleIdx="0" presStyleCnt="3"/>
      <dgm:spPr/>
    </dgm:pt>
    <dgm:pt modelId="{099C4BEE-76A7-4B30-8C67-F1A1A3D972E5}" type="pres">
      <dgm:prSet presAssocID="{DBFEDC5F-F224-4952-9D2E-DA305E771FE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in head"/>
        </a:ext>
      </dgm:extLst>
    </dgm:pt>
    <dgm:pt modelId="{0B831A41-0CFC-4986-86BA-025B5B5B4C90}" type="pres">
      <dgm:prSet presAssocID="{DBFEDC5F-F224-4952-9D2E-DA305E771FE0}" presName="spaceRect" presStyleCnt="0"/>
      <dgm:spPr/>
    </dgm:pt>
    <dgm:pt modelId="{8810CF7F-6F8B-4EA5-8A17-C02C10679F8E}" type="pres">
      <dgm:prSet presAssocID="{DBFEDC5F-F224-4952-9D2E-DA305E771FE0}" presName="parTx" presStyleLbl="revTx" presStyleIdx="0" presStyleCnt="3">
        <dgm:presLayoutVars>
          <dgm:chMax val="0"/>
          <dgm:chPref val="0"/>
        </dgm:presLayoutVars>
      </dgm:prSet>
      <dgm:spPr/>
    </dgm:pt>
    <dgm:pt modelId="{A6F42207-EAE1-4AD6-8333-14F79F20DF1A}" type="pres">
      <dgm:prSet presAssocID="{8EAC0395-17D8-401B-877A-3D1E3877FA8F}" presName="sibTrans" presStyleCnt="0"/>
      <dgm:spPr/>
    </dgm:pt>
    <dgm:pt modelId="{BD310694-FEA9-4BD7-9747-3B37E6E37314}" type="pres">
      <dgm:prSet presAssocID="{4DB3F027-08BE-4063-A641-2A7BE758EAD8}" presName="compNode" presStyleCnt="0"/>
      <dgm:spPr/>
    </dgm:pt>
    <dgm:pt modelId="{D7D4491D-C196-430E-86C4-00F1687F8EA4}" type="pres">
      <dgm:prSet presAssocID="{4DB3F027-08BE-4063-A641-2A7BE758EAD8}" presName="bgRect" presStyleLbl="bgShp" presStyleIdx="1" presStyleCnt="3"/>
      <dgm:spPr/>
    </dgm:pt>
    <dgm:pt modelId="{E98A5569-D444-4B6D-802A-C9B81ED99CE8}" type="pres">
      <dgm:prSet presAssocID="{4DB3F027-08BE-4063-A641-2A7BE758EAD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0533C3FA-528E-4AAE-983B-A258E76ACA32}" type="pres">
      <dgm:prSet presAssocID="{4DB3F027-08BE-4063-A641-2A7BE758EAD8}" presName="spaceRect" presStyleCnt="0"/>
      <dgm:spPr/>
    </dgm:pt>
    <dgm:pt modelId="{C0B1273A-0A08-41EC-884E-BAF88F7CD5AD}" type="pres">
      <dgm:prSet presAssocID="{4DB3F027-08BE-4063-A641-2A7BE758EAD8}" presName="parTx" presStyleLbl="revTx" presStyleIdx="1" presStyleCnt="3">
        <dgm:presLayoutVars>
          <dgm:chMax val="0"/>
          <dgm:chPref val="0"/>
        </dgm:presLayoutVars>
      </dgm:prSet>
      <dgm:spPr/>
    </dgm:pt>
    <dgm:pt modelId="{0DBD862F-6818-4318-BEAB-2ACF373B742A}" type="pres">
      <dgm:prSet presAssocID="{CD98E609-724C-4CE8-A04D-8863A1A1138C}" presName="sibTrans" presStyleCnt="0"/>
      <dgm:spPr/>
    </dgm:pt>
    <dgm:pt modelId="{B6171E35-877D-4797-B9E7-545BD2661C2C}" type="pres">
      <dgm:prSet presAssocID="{D4459558-AD1E-4F86-B064-1882D10D285D}" presName="compNode" presStyleCnt="0"/>
      <dgm:spPr/>
    </dgm:pt>
    <dgm:pt modelId="{8F41BF8B-43E3-49FA-BB72-D5A2468EDF8D}" type="pres">
      <dgm:prSet presAssocID="{D4459558-AD1E-4F86-B064-1882D10D285D}" presName="bgRect" presStyleLbl="bgShp" presStyleIdx="2" presStyleCnt="3"/>
      <dgm:spPr/>
    </dgm:pt>
    <dgm:pt modelId="{8CCBE637-F507-4ECB-86E3-8551296448D4}" type="pres">
      <dgm:prSet presAssocID="{D4459558-AD1E-4F86-B064-1882D10D285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C002F359-3E75-46C8-A249-114110F7AB50}" type="pres">
      <dgm:prSet presAssocID="{D4459558-AD1E-4F86-B064-1882D10D285D}" presName="spaceRect" presStyleCnt="0"/>
      <dgm:spPr/>
    </dgm:pt>
    <dgm:pt modelId="{A3D4A080-BEAC-4D11-B3EC-F409FCE03177}" type="pres">
      <dgm:prSet presAssocID="{D4459558-AD1E-4F86-B064-1882D10D285D}" presName="parTx" presStyleLbl="revTx" presStyleIdx="2" presStyleCnt="3">
        <dgm:presLayoutVars>
          <dgm:chMax val="0"/>
          <dgm:chPref val="0"/>
        </dgm:presLayoutVars>
      </dgm:prSet>
      <dgm:spPr/>
    </dgm:pt>
  </dgm:ptLst>
  <dgm:cxnLst>
    <dgm:cxn modelId="{7BF3BE44-9A8A-4071-BC7C-B1AF42A33D3C}" type="presOf" srcId="{D4459558-AD1E-4F86-B064-1882D10D285D}" destId="{A3D4A080-BEAC-4D11-B3EC-F409FCE03177}" srcOrd="0" destOrd="0" presId="urn:microsoft.com/office/officeart/2018/2/layout/IconVerticalSolidList"/>
    <dgm:cxn modelId="{14984B6F-622C-4734-9E41-6AA6C9FB34F3}" type="presOf" srcId="{4DB3F027-08BE-4063-A641-2A7BE758EAD8}" destId="{C0B1273A-0A08-41EC-884E-BAF88F7CD5AD}" srcOrd="0" destOrd="0" presId="urn:microsoft.com/office/officeart/2018/2/layout/IconVerticalSolidList"/>
    <dgm:cxn modelId="{E2FADA90-1DB5-4544-9B61-A16037D48F83}" type="presOf" srcId="{DBFEDC5F-F224-4952-9D2E-DA305E771FE0}" destId="{8810CF7F-6F8B-4EA5-8A17-C02C10679F8E}" srcOrd="0" destOrd="0" presId="urn:microsoft.com/office/officeart/2018/2/layout/IconVerticalSolidList"/>
    <dgm:cxn modelId="{EA88BCB4-D654-4132-B5E4-2D6D84A16FBB}" type="presOf" srcId="{05D130F4-0B53-4E6A-9DB6-887E7CCFEB5D}" destId="{167215DB-1D51-4B48-ABA9-87A440D6FBCC}" srcOrd="0" destOrd="0" presId="urn:microsoft.com/office/officeart/2018/2/layout/IconVerticalSolidList"/>
    <dgm:cxn modelId="{1E2BAAB8-34EA-4E15-B54A-7B46A383FB0B}" srcId="{05D130F4-0B53-4E6A-9DB6-887E7CCFEB5D}" destId="{DBFEDC5F-F224-4952-9D2E-DA305E771FE0}" srcOrd="0" destOrd="0" parTransId="{DF08D49D-D0E2-41EB-8A03-C81DD43D421F}" sibTransId="{8EAC0395-17D8-401B-877A-3D1E3877FA8F}"/>
    <dgm:cxn modelId="{AE1BBED1-F9AD-4ED6-9EE1-D4FB37CD35EE}" srcId="{05D130F4-0B53-4E6A-9DB6-887E7CCFEB5D}" destId="{4DB3F027-08BE-4063-A641-2A7BE758EAD8}" srcOrd="1" destOrd="0" parTransId="{991CF92A-7434-4FED-945D-226913B0711E}" sibTransId="{CD98E609-724C-4CE8-A04D-8863A1A1138C}"/>
    <dgm:cxn modelId="{A6D3F3E0-E390-44D3-A0B3-49434900B981}" srcId="{05D130F4-0B53-4E6A-9DB6-887E7CCFEB5D}" destId="{D4459558-AD1E-4F86-B064-1882D10D285D}" srcOrd="2" destOrd="0" parTransId="{1F67D04E-2C19-429C-80D3-8229DB3DD5DC}" sibTransId="{61559FF3-95FD-415C-A3EF-59DECD6662B7}"/>
    <dgm:cxn modelId="{1B7221C2-01FB-41B2-AD2E-5D256A8BEDAA}" type="presParOf" srcId="{167215DB-1D51-4B48-ABA9-87A440D6FBCC}" destId="{E69295D2-B1C3-428B-8B33-1C51FA061DEA}" srcOrd="0" destOrd="0" presId="urn:microsoft.com/office/officeart/2018/2/layout/IconVerticalSolidList"/>
    <dgm:cxn modelId="{8CC67A66-B41B-47B6-9ED9-3A29794B8861}" type="presParOf" srcId="{E69295D2-B1C3-428B-8B33-1C51FA061DEA}" destId="{7B27D4B1-0353-40FD-B07E-89612C5F3A09}" srcOrd="0" destOrd="0" presId="urn:microsoft.com/office/officeart/2018/2/layout/IconVerticalSolidList"/>
    <dgm:cxn modelId="{2C3335D8-4E79-4467-9172-3FC874F9893F}" type="presParOf" srcId="{E69295D2-B1C3-428B-8B33-1C51FA061DEA}" destId="{099C4BEE-76A7-4B30-8C67-F1A1A3D972E5}" srcOrd="1" destOrd="0" presId="urn:microsoft.com/office/officeart/2018/2/layout/IconVerticalSolidList"/>
    <dgm:cxn modelId="{149AAFA6-1012-436D-A38A-93E6BAA62437}" type="presParOf" srcId="{E69295D2-B1C3-428B-8B33-1C51FA061DEA}" destId="{0B831A41-0CFC-4986-86BA-025B5B5B4C90}" srcOrd="2" destOrd="0" presId="urn:microsoft.com/office/officeart/2018/2/layout/IconVerticalSolidList"/>
    <dgm:cxn modelId="{ACD64C75-00FF-4A20-8E55-B2DE3EB964C6}" type="presParOf" srcId="{E69295D2-B1C3-428B-8B33-1C51FA061DEA}" destId="{8810CF7F-6F8B-4EA5-8A17-C02C10679F8E}" srcOrd="3" destOrd="0" presId="urn:microsoft.com/office/officeart/2018/2/layout/IconVerticalSolidList"/>
    <dgm:cxn modelId="{460FDBCA-AAE5-439D-947D-8C3F290C1831}" type="presParOf" srcId="{167215DB-1D51-4B48-ABA9-87A440D6FBCC}" destId="{A6F42207-EAE1-4AD6-8333-14F79F20DF1A}" srcOrd="1" destOrd="0" presId="urn:microsoft.com/office/officeart/2018/2/layout/IconVerticalSolidList"/>
    <dgm:cxn modelId="{0C167696-5F3E-4C90-B263-E0F6244AD8DC}" type="presParOf" srcId="{167215DB-1D51-4B48-ABA9-87A440D6FBCC}" destId="{BD310694-FEA9-4BD7-9747-3B37E6E37314}" srcOrd="2" destOrd="0" presId="urn:microsoft.com/office/officeart/2018/2/layout/IconVerticalSolidList"/>
    <dgm:cxn modelId="{9A119775-C4AC-4F99-89B1-823A7C95F7CB}" type="presParOf" srcId="{BD310694-FEA9-4BD7-9747-3B37E6E37314}" destId="{D7D4491D-C196-430E-86C4-00F1687F8EA4}" srcOrd="0" destOrd="0" presId="urn:microsoft.com/office/officeart/2018/2/layout/IconVerticalSolidList"/>
    <dgm:cxn modelId="{662A4873-B00C-478B-BBF1-89673DE838EF}" type="presParOf" srcId="{BD310694-FEA9-4BD7-9747-3B37E6E37314}" destId="{E98A5569-D444-4B6D-802A-C9B81ED99CE8}" srcOrd="1" destOrd="0" presId="urn:microsoft.com/office/officeart/2018/2/layout/IconVerticalSolidList"/>
    <dgm:cxn modelId="{01AF1842-C091-4D93-930E-98E9BB0C6D3F}" type="presParOf" srcId="{BD310694-FEA9-4BD7-9747-3B37E6E37314}" destId="{0533C3FA-528E-4AAE-983B-A258E76ACA32}" srcOrd="2" destOrd="0" presId="urn:microsoft.com/office/officeart/2018/2/layout/IconVerticalSolidList"/>
    <dgm:cxn modelId="{37B5CCB6-46E7-4F13-8A4A-77BCFF27361B}" type="presParOf" srcId="{BD310694-FEA9-4BD7-9747-3B37E6E37314}" destId="{C0B1273A-0A08-41EC-884E-BAF88F7CD5AD}" srcOrd="3" destOrd="0" presId="urn:microsoft.com/office/officeart/2018/2/layout/IconVerticalSolidList"/>
    <dgm:cxn modelId="{91868A51-FCB8-4CBB-989E-97DC59E2C438}" type="presParOf" srcId="{167215DB-1D51-4B48-ABA9-87A440D6FBCC}" destId="{0DBD862F-6818-4318-BEAB-2ACF373B742A}" srcOrd="3" destOrd="0" presId="urn:microsoft.com/office/officeart/2018/2/layout/IconVerticalSolidList"/>
    <dgm:cxn modelId="{1FD40DC5-3FB8-4A57-BAFA-D6DC0647339E}" type="presParOf" srcId="{167215DB-1D51-4B48-ABA9-87A440D6FBCC}" destId="{B6171E35-877D-4797-B9E7-545BD2661C2C}" srcOrd="4" destOrd="0" presId="urn:microsoft.com/office/officeart/2018/2/layout/IconVerticalSolidList"/>
    <dgm:cxn modelId="{056972ED-D662-44A0-BB9B-BC9E18B6B593}" type="presParOf" srcId="{B6171E35-877D-4797-B9E7-545BD2661C2C}" destId="{8F41BF8B-43E3-49FA-BB72-D5A2468EDF8D}" srcOrd="0" destOrd="0" presId="urn:microsoft.com/office/officeart/2018/2/layout/IconVerticalSolidList"/>
    <dgm:cxn modelId="{2CFF4B79-23CC-4D75-B4E0-2F45D4F14D24}" type="presParOf" srcId="{B6171E35-877D-4797-B9E7-545BD2661C2C}" destId="{8CCBE637-F507-4ECB-86E3-8551296448D4}" srcOrd="1" destOrd="0" presId="urn:microsoft.com/office/officeart/2018/2/layout/IconVerticalSolidList"/>
    <dgm:cxn modelId="{80EAB4D3-D142-41C6-99E4-FB2A0F7C9F9B}" type="presParOf" srcId="{B6171E35-877D-4797-B9E7-545BD2661C2C}" destId="{C002F359-3E75-46C8-A249-114110F7AB50}" srcOrd="2" destOrd="0" presId="urn:microsoft.com/office/officeart/2018/2/layout/IconVerticalSolidList"/>
    <dgm:cxn modelId="{32338855-C6B1-4E2E-9A1A-E3B1569CD66A}" type="presParOf" srcId="{B6171E35-877D-4797-B9E7-545BD2661C2C}" destId="{A3D4A080-BEAC-4D11-B3EC-F409FCE03177}" srcOrd="3"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C79B0-00EC-41D4-A6F7-FA2039E76719}">
      <dsp:nvSpPr>
        <dsp:cNvPr id="0" name=""/>
        <dsp:cNvSpPr/>
      </dsp:nvSpPr>
      <dsp:spPr>
        <a:xfrm>
          <a:off x="304896" y="900757"/>
          <a:ext cx="953244" cy="95324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65183C-AFFF-47BF-BE50-1AF186776D78}">
      <dsp:nvSpPr>
        <dsp:cNvPr id="0" name=""/>
        <dsp:cNvSpPr/>
      </dsp:nvSpPr>
      <dsp:spPr>
        <a:xfrm>
          <a:off x="508047" y="1103908"/>
          <a:ext cx="546943" cy="54694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B656D8-63CD-43F9-88B1-700697B9E8B7}">
      <dsp:nvSpPr>
        <dsp:cNvPr id="0" name=""/>
        <dsp:cNvSpPr/>
      </dsp:nvSpPr>
      <dsp:spPr>
        <a:xfrm>
          <a:off x="171" y="2150914"/>
          <a:ext cx="1562695" cy="1692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Task: The AI was tasked with formatting and calculating travel and labor information into a Vermont Probate Court accounting table.</a:t>
          </a:r>
        </a:p>
      </dsp:txBody>
      <dsp:txXfrm>
        <a:off x="171" y="2150914"/>
        <a:ext cx="1562695" cy="1692106"/>
      </dsp:txXfrm>
    </dsp:sp>
    <dsp:sp modelId="{8AF64A6C-71EB-4509-ACAB-423D100E3DAD}">
      <dsp:nvSpPr>
        <dsp:cNvPr id="0" name=""/>
        <dsp:cNvSpPr/>
      </dsp:nvSpPr>
      <dsp:spPr>
        <a:xfrm>
          <a:off x="2141063" y="900757"/>
          <a:ext cx="953244" cy="953244"/>
        </a:xfrm>
        <a:prstGeom prst="ellipse">
          <a:avLst/>
        </a:prstGeom>
        <a:solidFill>
          <a:schemeClr val="accent5">
            <a:hueOff val="2745609"/>
            <a:satOff val="-6696"/>
            <a:lumOff val="1177"/>
            <a:alphaOff val="0"/>
          </a:schemeClr>
        </a:solidFill>
        <a:ln>
          <a:noFill/>
        </a:ln>
        <a:effectLst/>
      </dsp:spPr>
      <dsp:style>
        <a:lnRef idx="0">
          <a:scrgbClr r="0" g="0" b="0"/>
        </a:lnRef>
        <a:fillRef idx="1">
          <a:scrgbClr r="0" g="0" b="0"/>
        </a:fillRef>
        <a:effectRef idx="0">
          <a:scrgbClr r="0" g="0" b="0"/>
        </a:effectRef>
        <a:fontRef idx="minor"/>
      </dsp:style>
    </dsp:sp>
    <dsp:sp modelId="{6245570E-02DA-487E-8FD9-D1F7B278A58C}">
      <dsp:nvSpPr>
        <dsp:cNvPr id="0" name=""/>
        <dsp:cNvSpPr/>
      </dsp:nvSpPr>
      <dsp:spPr>
        <a:xfrm>
          <a:off x="2344214" y="1103908"/>
          <a:ext cx="546943" cy="54694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310D88-25C8-4783-9907-D712AB9BE0F7}">
      <dsp:nvSpPr>
        <dsp:cNvPr id="0" name=""/>
        <dsp:cNvSpPr/>
      </dsp:nvSpPr>
      <dsp:spPr>
        <a:xfrm>
          <a:off x="1836338" y="2150914"/>
          <a:ext cx="1562695" cy="1692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Provisions: The AI was provided with the ‘Probating a Vermont Estate Booklet’ for background and relevant details on start, stop, and end dates, times, and locations to build a graph showing time spent on estate-related tasks. </a:t>
          </a:r>
        </a:p>
      </dsp:txBody>
      <dsp:txXfrm>
        <a:off x="1836338" y="2150914"/>
        <a:ext cx="1562695" cy="1692106"/>
      </dsp:txXfrm>
    </dsp:sp>
    <dsp:sp modelId="{5B09505B-0ED9-4271-B267-78036946E037}">
      <dsp:nvSpPr>
        <dsp:cNvPr id="0" name=""/>
        <dsp:cNvSpPr/>
      </dsp:nvSpPr>
      <dsp:spPr>
        <a:xfrm>
          <a:off x="3977230" y="900757"/>
          <a:ext cx="953244" cy="953244"/>
        </a:xfrm>
        <a:prstGeom prst="ellipse">
          <a:avLst/>
        </a:prstGeom>
        <a:solidFill>
          <a:schemeClr val="accent5">
            <a:hueOff val="5491218"/>
            <a:satOff val="-13392"/>
            <a:lumOff val="2353"/>
            <a:alphaOff val="0"/>
          </a:schemeClr>
        </a:solidFill>
        <a:ln>
          <a:noFill/>
        </a:ln>
        <a:effectLst/>
      </dsp:spPr>
      <dsp:style>
        <a:lnRef idx="0">
          <a:scrgbClr r="0" g="0" b="0"/>
        </a:lnRef>
        <a:fillRef idx="1">
          <a:scrgbClr r="0" g="0" b="0"/>
        </a:fillRef>
        <a:effectRef idx="0">
          <a:scrgbClr r="0" g="0" b="0"/>
        </a:effectRef>
        <a:fontRef idx="minor"/>
      </dsp:style>
    </dsp:sp>
    <dsp:sp modelId="{1B2BB469-5969-4CDF-9ECD-5F4EB340D5DD}">
      <dsp:nvSpPr>
        <dsp:cNvPr id="0" name=""/>
        <dsp:cNvSpPr/>
      </dsp:nvSpPr>
      <dsp:spPr>
        <a:xfrm>
          <a:off x="4180381" y="1103908"/>
          <a:ext cx="546943" cy="54694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14AAC38-8EC9-4487-A313-EEFCE1DCB53B}">
      <dsp:nvSpPr>
        <dsp:cNvPr id="0" name=""/>
        <dsp:cNvSpPr/>
      </dsp:nvSpPr>
      <dsp:spPr>
        <a:xfrm>
          <a:off x="3672505" y="2150914"/>
          <a:ext cx="1562695" cy="1692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Outcome: The AI provided a clean, easy-to-read register of all dates, mileage, drive times, and time spent working on Estate tasks. </a:t>
          </a:r>
        </a:p>
      </dsp:txBody>
      <dsp:txXfrm>
        <a:off x="3672505" y="2150914"/>
        <a:ext cx="1562695" cy="1692106"/>
      </dsp:txXfrm>
    </dsp:sp>
    <dsp:sp modelId="{4D4782CC-F94D-478A-87E0-9C1A704AEE09}">
      <dsp:nvSpPr>
        <dsp:cNvPr id="0" name=""/>
        <dsp:cNvSpPr/>
      </dsp:nvSpPr>
      <dsp:spPr>
        <a:xfrm>
          <a:off x="5813397" y="900757"/>
          <a:ext cx="953244" cy="953244"/>
        </a:xfrm>
        <a:prstGeom prst="ellipse">
          <a:avLst/>
        </a:prstGeom>
        <a:solidFill>
          <a:schemeClr val="accent5">
            <a:hueOff val="8236826"/>
            <a:satOff val="-20088"/>
            <a:lumOff val="3530"/>
            <a:alphaOff val="0"/>
          </a:schemeClr>
        </a:solidFill>
        <a:ln>
          <a:noFill/>
        </a:ln>
        <a:effectLst/>
      </dsp:spPr>
      <dsp:style>
        <a:lnRef idx="0">
          <a:scrgbClr r="0" g="0" b="0"/>
        </a:lnRef>
        <a:fillRef idx="1">
          <a:scrgbClr r="0" g="0" b="0"/>
        </a:fillRef>
        <a:effectRef idx="0">
          <a:scrgbClr r="0" g="0" b="0"/>
        </a:effectRef>
        <a:fontRef idx="minor"/>
      </dsp:style>
    </dsp:sp>
    <dsp:sp modelId="{56C88A04-356D-4FA3-B474-7F7F07FBF01F}">
      <dsp:nvSpPr>
        <dsp:cNvPr id="0" name=""/>
        <dsp:cNvSpPr/>
      </dsp:nvSpPr>
      <dsp:spPr>
        <a:xfrm>
          <a:off x="6016548" y="1103908"/>
          <a:ext cx="546943" cy="54694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607308-4899-4243-A016-72C7C0D9DBB3}">
      <dsp:nvSpPr>
        <dsp:cNvPr id="0" name=""/>
        <dsp:cNvSpPr/>
      </dsp:nvSpPr>
      <dsp:spPr>
        <a:xfrm>
          <a:off x="5508672" y="2150914"/>
          <a:ext cx="1562695" cy="1692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Where the human was needed: Drive time estimates in some places were significantly shorter than possible, necessitating human review before submission.</a:t>
          </a:r>
        </a:p>
      </dsp:txBody>
      <dsp:txXfrm>
        <a:off x="5508672" y="2150914"/>
        <a:ext cx="1562695" cy="16921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1E3FE-82F9-4C03-8D4C-C669C33914C6}">
      <dsp:nvSpPr>
        <dsp:cNvPr id="0" name=""/>
        <dsp:cNvSpPr/>
      </dsp:nvSpPr>
      <dsp:spPr>
        <a:xfrm>
          <a:off x="489154" y="1089448"/>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7E8D1A-A447-466C-810F-7CD2274DC594}">
      <dsp:nvSpPr>
        <dsp:cNvPr id="0" name=""/>
        <dsp:cNvSpPr/>
      </dsp:nvSpPr>
      <dsp:spPr>
        <a:xfrm>
          <a:off x="803592" y="1403885"/>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FF6562-7116-4FD5-9065-D3B851F1D006}">
      <dsp:nvSpPr>
        <dsp:cNvPr id="0" name=""/>
        <dsp:cNvSpPr/>
      </dsp:nvSpPr>
      <dsp:spPr>
        <a:xfrm>
          <a:off x="17498" y="3024448"/>
          <a:ext cx="2418750" cy="1613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In this unique aspect of life, ‘colleague’ doesn’t quite fit the bill, but almost everyone encounters this duty in life, so it is applicable to all. </a:t>
          </a:r>
        </a:p>
      </dsp:txBody>
      <dsp:txXfrm>
        <a:off x="17498" y="3024448"/>
        <a:ext cx="2418750" cy="1613671"/>
      </dsp:txXfrm>
    </dsp:sp>
    <dsp:sp modelId="{A75F24E2-6DD1-40E3-BE54-31C66C73A4B6}">
      <dsp:nvSpPr>
        <dsp:cNvPr id="0" name=""/>
        <dsp:cNvSpPr/>
      </dsp:nvSpPr>
      <dsp:spPr>
        <a:xfrm>
          <a:off x="3331185" y="1089448"/>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A2F018-CC38-4935-9CFD-198184F88E63}">
      <dsp:nvSpPr>
        <dsp:cNvPr id="0" name=""/>
        <dsp:cNvSpPr/>
      </dsp:nvSpPr>
      <dsp:spPr>
        <a:xfrm>
          <a:off x="3645623" y="1403885"/>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6A13BF-A7FC-4A17-86D5-A7682A4E76E9}">
      <dsp:nvSpPr>
        <dsp:cNvPr id="0" name=""/>
        <dsp:cNvSpPr/>
      </dsp:nvSpPr>
      <dsp:spPr>
        <a:xfrm>
          <a:off x="2859529" y="3024448"/>
          <a:ext cx="2418750" cy="1613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I would tell someone who repeated that claim that it refers to legal </a:t>
          </a:r>
          <a:r>
            <a:rPr lang="en-US" sz="1100" i="1" kern="1200"/>
            <a:t>professionals</a:t>
          </a:r>
          <a:r>
            <a:rPr lang="en-US" sz="1100" kern="1200"/>
            <a:t>, not administrators completing work on behalf of family members, and that it had to do with drafting responses, for example, to questions that administrators would send to legal professionals. </a:t>
          </a:r>
        </a:p>
      </dsp:txBody>
      <dsp:txXfrm>
        <a:off x="2859529" y="3024448"/>
        <a:ext cx="2418750" cy="16136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7D4B1-0353-40FD-B07E-89612C5F3A09}">
      <dsp:nvSpPr>
        <dsp:cNvPr id="0" name=""/>
        <dsp:cNvSpPr/>
      </dsp:nvSpPr>
      <dsp:spPr>
        <a:xfrm>
          <a:off x="0" y="488"/>
          <a:ext cx="7959560" cy="11419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9C4BEE-76A7-4B30-8C67-F1A1A3D972E5}">
      <dsp:nvSpPr>
        <dsp:cNvPr id="0" name=""/>
        <dsp:cNvSpPr/>
      </dsp:nvSpPr>
      <dsp:spPr>
        <a:xfrm>
          <a:off x="345442" y="257428"/>
          <a:ext cx="628076" cy="6280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10CF7F-6F8B-4EA5-8A17-C02C10679F8E}">
      <dsp:nvSpPr>
        <dsp:cNvPr id="0" name=""/>
        <dsp:cNvSpPr/>
      </dsp:nvSpPr>
      <dsp:spPr>
        <a:xfrm>
          <a:off x="1318961" y="488"/>
          <a:ext cx="6640598" cy="1141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57" tIns="120857" rIns="120857" bIns="120857" numCol="1" spcCol="1270" anchor="ctr" anchorCtr="0">
          <a:noAutofit/>
        </a:bodyPr>
        <a:lstStyle/>
        <a:p>
          <a:pPr marL="0" lvl="0" indent="0" algn="l" defTabSz="755650">
            <a:lnSpc>
              <a:spcPct val="90000"/>
            </a:lnSpc>
            <a:spcBef>
              <a:spcPct val="0"/>
            </a:spcBef>
            <a:spcAft>
              <a:spcPct val="35000"/>
            </a:spcAft>
            <a:buNone/>
          </a:pPr>
          <a:r>
            <a:rPr lang="en-US" sz="1700" kern="1200"/>
            <a:t>AI can help with burdensome mundane tasks, but it must be checked for hallucinations and dropping important details</a:t>
          </a:r>
        </a:p>
      </dsp:txBody>
      <dsp:txXfrm>
        <a:off x="1318961" y="488"/>
        <a:ext cx="6640598" cy="1141957"/>
      </dsp:txXfrm>
    </dsp:sp>
    <dsp:sp modelId="{D7D4491D-C196-430E-86C4-00F1687F8EA4}">
      <dsp:nvSpPr>
        <dsp:cNvPr id="0" name=""/>
        <dsp:cNvSpPr/>
      </dsp:nvSpPr>
      <dsp:spPr>
        <a:xfrm>
          <a:off x="0" y="1427935"/>
          <a:ext cx="7959560" cy="1141957"/>
        </a:xfrm>
        <a:prstGeom prst="roundRect">
          <a:avLst>
            <a:gd name="adj" fmla="val 10000"/>
          </a:avLst>
        </a:prstGeom>
        <a:solidFill>
          <a:schemeClr val="accent2">
            <a:hueOff val="-3022913"/>
            <a:satOff val="-1257"/>
            <a:lumOff val="-4118"/>
            <a:alphaOff val="0"/>
          </a:schemeClr>
        </a:solidFill>
        <a:ln>
          <a:noFill/>
        </a:ln>
        <a:effectLst/>
      </dsp:spPr>
      <dsp:style>
        <a:lnRef idx="0">
          <a:scrgbClr r="0" g="0" b="0"/>
        </a:lnRef>
        <a:fillRef idx="1">
          <a:scrgbClr r="0" g="0" b="0"/>
        </a:fillRef>
        <a:effectRef idx="0">
          <a:scrgbClr r="0" g="0" b="0"/>
        </a:effectRef>
        <a:fontRef idx="minor"/>
      </dsp:style>
    </dsp:sp>
    <dsp:sp modelId="{E98A5569-D444-4B6D-802A-C9B81ED99CE8}">
      <dsp:nvSpPr>
        <dsp:cNvPr id="0" name=""/>
        <dsp:cNvSpPr/>
      </dsp:nvSpPr>
      <dsp:spPr>
        <a:xfrm>
          <a:off x="345442" y="1684875"/>
          <a:ext cx="628076" cy="6280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B1273A-0A08-41EC-884E-BAF88F7CD5AD}">
      <dsp:nvSpPr>
        <dsp:cNvPr id="0" name=""/>
        <dsp:cNvSpPr/>
      </dsp:nvSpPr>
      <dsp:spPr>
        <a:xfrm>
          <a:off x="1318961" y="1427935"/>
          <a:ext cx="6640598" cy="1141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57" tIns="120857" rIns="120857" bIns="120857" numCol="1" spcCol="1270" anchor="ctr" anchorCtr="0">
          <a:noAutofit/>
        </a:bodyPr>
        <a:lstStyle/>
        <a:p>
          <a:pPr marL="0" lvl="0" indent="0" algn="l" defTabSz="755650">
            <a:lnSpc>
              <a:spcPct val="90000"/>
            </a:lnSpc>
            <a:spcBef>
              <a:spcPct val="0"/>
            </a:spcBef>
            <a:spcAft>
              <a:spcPct val="35000"/>
            </a:spcAft>
            <a:buNone/>
          </a:pPr>
          <a:r>
            <a:rPr lang="en-US" sz="1700" kern="1200"/>
            <a:t>AI can confidently produce incorrect figures that must be independently checked. Using the S.I.F.T. method helps here.</a:t>
          </a:r>
        </a:p>
      </dsp:txBody>
      <dsp:txXfrm>
        <a:off x="1318961" y="1427935"/>
        <a:ext cx="6640598" cy="1141957"/>
      </dsp:txXfrm>
    </dsp:sp>
    <dsp:sp modelId="{8F41BF8B-43E3-49FA-BB72-D5A2468EDF8D}">
      <dsp:nvSpPr>
        <dsp:cNvPr id="0" name=""/>
        <dsp:cNvSpPr/>
      </dsp:nvSpPr>
      <dsp:spPr>
        <a:xfrm>
          <a:off x="0" y="2855382"/>
          <a:ext cx="7959560" cy="1141957"/>
        </a:xfrm>
        <a:prstGeom prst="roundRect">
          <a:avLst>
            <a:gd name="adj" fmla="val 10000"/>
          </a:avLst>
        </a:prstGeom>
        <a:solidFill>
          <a:schemeClr val="accent2">
            <a:hueOff val="-6045827"/>
            <a:satOff val="-2514"/>
            <a:lumOff val="-8235"/>
            <a:alphaOff val="0"/>
          </a:schemeClr>
        </a:solidFill>
        <a:ln>
          <a:noFill/>
        </a:ln>
        <a:effectLst/>
      </dsp:spPr>
      <dsp:style>
        <a:lnRef idx="0">
          <a:scrgbClr r="0" g="0" b="0"/>
        </a:lnRef>
        <a:fillRef idx="1">
          <a:scrgbClr r="0" g="0" b="0"/>
        </a:fillRef>
        <a:effectRef idx="0">
          <a:scrgbClr r="0" g="0" b="0"/>
        </a:effectRef>
        <a:fontRef idx="minor"/>
      </dsp:style>
    </dsp:sp>
    <dsp:sp modelId="{8CCBE637-F507-4ECB-86E3-8551296448D4}">
      <dsp:nvSpPr>
        <dsp:cNvPr id="0" name=""/>
        <dsp:cNvSpPr/>
      </dsp:nvSpPr>
      <dsp:spPr>
        <a:xfrm>
          <a:off x="345442" y="3112322"/>
          <a:ext cx="628076" cy="6280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D4A080-BEAC-4D11-B3EC-F409FCE03177}">
      <dsp:nvSpPr>
        <dsp:cNvPr id="0" name=""/>
        <dsp:cNvSpPr/>
      </dsp:nvSpPr>
      <dsp:spPr>
        <a:xfrm>
          <a:off x="1318961" y="2855382"/>
          <a:ext cx="6640598" cy="1141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57" tIns="120857" rIns="120857" bIns="120857" numCol="1" spcCol="1270" anchor="ctr" anchorCtr="0">
          <a:noAutofit/>
        </a:bodyPr>
        <a:lstStyle/>
        <a:p>
          <a:pPr marL="0" lvl="0" indent="0" algn="l" defTabSz="755650">
            <a:lnSpc>
              <a:spcPct val="90000"/>
            </a:lnSpc>
            <a:spcBef>
              <a:spcPct val="0"/>
            </a:spcBef>
            <a:spcAft>
              <a:spcPct val="35000"/>
            </a:spcAft>
            <a:buNone/>
          </a:pPr>
          <a:r>
            <a:rPr lang="en-US" sz="1700" kern="1200"/>
            <a:t>When managing the affairs of a loved one, hands-on management is irreplaceable. Complex ambiguity, physical cleanout and distributions, and legal liability remain in the hands of a human.</a:t>
          </a:r>
        </a:p>
      </dsp:txBody>
      <dsp:txXfrm>
        <a:off x="1318961" y="2855382"/>
        <a:ext cx="6640598" cy="114195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5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9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0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C0ECF-EC96-9C4F-B643-BDC0E36E6610}" type="datetimeFigureOut">
              <a:rPr lang="en-US" smtClean="0"/>
              <a:t>10/25/26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D6288-1924-D043-8D3A-2A9078799A72}" type="slidenum">
              <a:rPr lang="en-US" smtClean="0"/>
              <a:t>‹#›</a:t>
            </a:fld>
            <a:endParaRPr lang="en-US"/>
          </a:p>
        </p:txBody>
      </p:sp>
    </p:spTree>
    <p:extLst>
      <p:ext uri="{BB962C8B-B14F-4D97-AF65-F5344CB8AC3E}">
        <p14:creationId xmlns:p14="http://schemas.microsoft.com/office/powerpoint/2010/main" val="1764037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Hello. Today we will take a look at AI in estate administration, specifically the work involved in administering an estate for a family member as a fiduciary.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type of work is something that touches almost everyone at some point in their lives, yet the process is not typically known until you are handed the responsibility. Seeing how AI can support this work is especially interesting because it can potentially help untangle the complex web of probate requirements, which vary by state.</a:t>
            </a:r>
          </a:p>
        </p:txBody>
      </p:sp>
      <p:sp>
        <p:nvSpPr>
          <p:cNvPr id="4" name="Slide Number Placeholder 3"/>
          <p:cNvSpPr>
            <a:spLocks noGrp="1"/>
          </p:cNvSpPr>
          <p:nvPr>
            <p:ph type="sldNum" sz="quarter" idx="5"/>
          </p:nvPr>
        </p:nvSpPr>
        <p:spPr/>
        <p:txBody>
          <a:bodyPr/>
          <a:lstStyle/>
          <a:p>
            <a:fld id="{791D6288-1924-D043-8D3A-2A9078799A72}" type="slidenum">
              <a:rPr lang="en-US" smtClean="0"/>
              <a:t>1</a:t>
            </a:fld>
            <a:endParaRPr lang="en-US"/>
          </a:p>
        </p:txBody>
      </p:sp>
    </p:spTree>
    <p:extLst>
      <p:ext uri="{BB962C8B-B14F-4D97-AF65-F5344CB8AC3E}">
        <p14:creationId xmlns:p14="http://schemas.microsoft.com/office/powerpoint/2010/main" val="519291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in about the U curve)</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While working through the weekly assignments, I found that AI can be genuinely helpful when the task is primarily about organizing information, I also found a very important limitation, that is that AI can drop critical legal context when presented with large amounts of data to review. </a:t>
            </a:r>
          </a:p>
        </p:txBody>
      </p:sp>
      <p:sp>
        <p:nvSpPr>
          <p:cNvPr id="4" name="Slide Number Placeholder 3"/>
          <p:cNvSpPr>
            <a:spLocks noGrp="1"/>
          </p:cNvSpPr>
          <p:nvPr>
            <p:ph type="sldNum" sz="quarter" idx="5"/>
          </p:nvPr>
        </p:nvSpPr>
        <p:spPr/>
        <p:txBody>
          <a:bodyPr/>
          <a:lstStyle/>
          <a:p>
            <a:fld id="{791D6288-1924-D043-8D3A-2A9078799A72}" type="slidenum">
              <a:rPr lang="en-US" smtClean="0"/>
              <a:t>2</a:t>
            </a:fld>
            <a:endParaRPr lang="en-US"/>
          </a:p>
        </p:txBody>
      </p:sp>
    </p:spTree>
    <p:extLst>
      <p:ext uri="{BB962C8B-B14F-4D97-AF65-F5344CB8AC3E}">
        <p14:creationId xmlns:p14="http://schemas.microsoft.com/office/powerpoint/2010/main" val="2274041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For one assignment, I provided Copilot with the Vermont Probate Court booklet for background context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and dates, start and end locations, and details regarding estate-related tasks, such as cleaning out the cabin /going to the dump, meeting with real estate agents, purchasing and installing flooring,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Then, I asked it to format and calculate the travel and labor information into a probate court accounting table.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result was actually very useful. AI turned what was basically a messy collection of dates, locations, and details from my notes app into a clean, easy-to-read register. It organized the chart by date, and - calculated mileage, driving time, and work time in a way that could make the administrative process much less burdensome. This is a real place where I think AI can save some substantial time.</a:t>
            </a:r>
          </a:p>
        </p:txBody>
      </p:sp>
      <p:sp>
        <p:nvSpPr>
          <p:cNvPr id="4" name="Slide Number Placeholder 3"/>
          <p:cNvSpPr>
            <a:spLocks noGrp="1"/>
          </p:cNvSpPr>
          <p:nvPr>
            <p:ph type="sldNum" sz="quarter" idx="5"/>
          </p:nvPr>
        </p:nvSpPr>
        <p:spPr/>
        <p:txBody>
          <a:bodyPr/>
          <a:lstStyle/>
          <a:p>
            <a:fld id="{791D6288-1924-D043-8D3A-2A9078799A72}" type="slidenum">
              <a:rPr lang="en-US" smtClean="0"/>
              <a:t>3</a:t>
            </a:fld>
            <a:endParaRPr lang="en-US"/>
          </a:p>
        </p:txBody>
      </p:sp>
    </p:spTree>
    <p:extLst>
      <p:ext uri="{BB962C8B-B14F-4D97-AF65-F5344CB8AC3E}">
        <p14:creationId xmlns:p14="http://schemas.microsoft.com/office/powerpoint/2010/main" val="2985952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another assignment, outlining the duties of an administrator based on the Vermont Probate Estate Booklet, copilot dropped a crucial piece of legal context. Specifically, it changed the meaning of when an inventory of assets needed to be submitted to the court. The distinction was between 30 days from the date of death and 30 days from the date of court appointment.</a:t>
            </a:r>
          </a:p>
          <a:p>
            <a:r>
              <a:rPr lang="en-US" sz="1200" b="0" i="0" kern="1200" dirty="0">
                <a:solidFill>
                  <a:schemeClr val="tx1"/>
                </a:solidFill>
                <a:effectLst/>
                <a:latin typeface="+mn-lt"/>
                <a:ea typeface="+mn-ea"/>
                <a:cs typeface="+mn-cs"/>
              </a:rPr>
              <a:t>That sounds like a small difference, but it absolutely isn't.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difference plays out like this: 30 days from death, you've contacted a funeral home, written an obituary, contacted family, made hundreds of tiny decisions, most likely haven't received the death certificate yet to even begin probate, let alone the grieving process- AND now you have to inventory their entire life? An almost unthinkable task.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30 days from appointment spells out a very different timeline, as you have retained counsel, </a:t>
            </a:r>
            <a:r>
              <a:rPr lang="en-US" sz="1200" b="0" i="0" kern="1200" dirty="0" err="1">
                <a:solidFill>
                  <a:schemeClr val="tx1"/>
                </a:solidFill>
                <a:effectLst/>
                <a:latin typeface="+mn-lt"/>
                <a:ea typeface="+mn-ea"/>
                <a:cs typeface="+mn-cs"/>
              </a:rPr>
              <a:t>recieved</a:t>
            </a:r>
            <a:r>
              <a:rPr lang="en-US" sz="1200" b="0" i="0" kern="1200" dirty="0">
                <a:solidFill>
                  <a:schemeClr val="tx1"/>
                </a:solidFill>
                <a:effectLst/>
                <a:latin typeface="+mn-lt"/>
                <a:ea typeface="+mn-ea"/>
                <a:cs typeface="+mn-cs"/>
              </a:rPr>
              <a:t> the death certificate, and hopefully had some time to process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my firsthand takeaway is that AI can be very good at turning messy information into structured information, but that does not mean it reliably understands the significance of every piece of information it is given. In estate administration, dropping one important detail can be much more consequential than making a formatting mistake.</a:t>
            </a:r>
          </a:p>
        </p:txBody>
      </p:sp>
      <p:sp>
        <p:nvSpPr>
          <p:cNvPr id="4" name="Slide Number Placeholder 3"/>
          <p:cNvSpPr>
            <a:spLocks noGrp="1"/>
          </p:cNvSpPr>
          <p:nvPr>
            <p:ph type="sldNum" sz="quarter" idx="5"/>
          </p:nvPr>
        </p:nvSpPr>
        <p:spPr/>
        <p:txBody>
          <a:bodyPr/>
          <a:lstStyle/>
          <a:p>
            <a:fld id="{791D6288-1924-D043-8D3A-2A9078799A72}" type="slidenum">
              <a:rPr lang="en-US" smtClean="0"/>
              <a:t>4</a:t>
            </a:fld>
            <a:endParaRPr lang="en-US"/>
          </a:p>
        </p:txBody>
      </p:sp>
    </p:spTree>
    <p:extLst>
      <p:ext uri="{BB962C8B-B14F-4D97-AF65-F5344CB8AC3E}">
        <p14:creationId xmlns:p14="http://schemas.microsoft.com/office/powerpoint/2010/main" val="1663492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Pivoting into looking at the future of estate </a:t>
            </a:r>
            <a:r>
              <a:rPr lang="en-US" sz="1200" b="0" i="0" kern="1200" dirty="0" err="1">
                <a:solidFill>
                  <a:schemeClr val="tx1"/>
                </a:solidFill>
                <a:effectLst/>
                <a:latin typeface="+mn-lt"/>
                <a:ea typeface="+mn-ea"/>
                <a:cs typeface="+mn-cs"/>
              </a:rPr>
              <a:t>adminstration</a:t>
            </a:r>
            <a:r>
              <a:rPr lang="en-US" sz="1200" b="0" i="0" kern="1200" dirty="0">
                <a:solidFill>
                  <a:schemeClr val="tx1"/>
                </a:solidFill>
                <a:effectLst/>
                <a:latin typeface="+mn-lt"/>
                <a:ea typeface="+mn-ea"/>
                <a:cs typeface="+mn-cs"/>
              </a:rPr>
              <a:t>, I requested Copilot to predict what AI would look like in estate administration over the next 24 months.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"What is coming for AI in the field of estate administration and estate administration tasks for individuals in the next 12–24 months?"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specific claim I chose to test was:</a:t>
            </a:r>
          </a:p>
          <a:p>
            <a:r>
              <a:rPr lang="en-US" sz="1200" b="0" i="0" kern="1200" dirty="0">
                <a:solidFill>
                  <a:schemeClr val="tx1"/>
                </a:solidFill>
                <a:effectLst/>
                <a:latin typeface="+mn-lt"/>
                <a:ea typeface="+mn-ea"/>
                <a:cs typeface="+mn-cs"/>
              </a:rPr>
              <a:t>Firms will see 30–50% reductions in drafting and administration time.”</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wanted to focus on the 30-to-50-percent number because it sounded specific enough that I should be able to trace it to an actual source.</a:t>
            </a:r>
            <a:br>
              <a:rPr lang="en-US" dirty="0"/>
            </a:br>
            <a:br>
              <a:rPr lang="en-US" dirty="0"/>
            </a:br>
            <a:r>
              <a:rPr lang="en-US" dirty="0"/>
              <a:t>https://</a:t>
            </a:r>
            <a:r>
              <a:rPr lang="en-US" dirty="0" err="1"/>
              <a:t>happycapyguide.com</a:t>
            </a:r>
            <a:r>
              <a:rPr lang="en-US" dirty="0"/>
              <a:t>/blog/how-to-use-ai-for-estate-planning-law-firm-2026?utm_source=</a:t>
            </a:r>
            <a:r>
              <a:rPr lang="en-US" dirty="0" err="1"/>
              <a:t>copilot.com</a:t>
            </a:r>
            <a:br>
              <a:rPr lang="en-US" dirty="0"/>
            </a:br>
            <a:endParaRPr lang="en-US" dirty="0"/>
          </a:p>
        </p:txBody>
      </p:sp>
      <p:sp>
        <p:nvSpPr>
          <p:cNvPr id="4" name="Slide Number Placeholder 3"/>
          <p:cNvSpPr>
            <a:spLocks noGrp="1"/>
          </p:cNvSpPr>
          <p:nvPr>
            <p:ph type="sldNum" sz="quarter" idx="5"/>
          </p:nvPr>
        </p:nvSpPr>
        <p:spPr/>
        <p:txBody>
          <a:bodyPr/>
          <a:lstStyle/>
          <a:p>
            <a:fld id="{791D6288-1924-D043-8D3A-2A9078799A72}" type="slidenum">
              <a:rPr lang="en-US" smtClean="0"/>
              <a:t>5</a:t>
            </a:fld>
            <a:endParaRPr lang="en-US"/>
          </a:p>
        </p:txBody>
      </p:sp>
    </p:spTree>
    <p:extLst>
      <p:ext uri="{BB962C8B-B14F-4D97-AF65-F5344CB8AC3E}">
        <p14:creationId xmlns:p14="http://schemas.microsoft.com/office/powerpoint/2010/main" val="265966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I tried to verify it, Copilot led me to an article called “How to Use AI for an Estate Planning Law Firm in 2026: A Pragmatic Managing-Partner's Playbook,” from </a:t>
            </a:r>
            <a:r>
              <a:rPr lang="en-US" sz="1200" b="0" i="0" kern="1200" dirty="0" err="1">
                <a:solidFill>
                  <a:schemeClr val="tx1"/>
                </a:solidFill>
                <a:effectLst/>
                <a:latin typeface="+mn-lt"/>
                <a:ea typeface="+mn-ea"/>
                <a:cs typeface="+mn-cs"/>
              </a:rPr>
              <a:t>Happycapy</a:t>
            </a:r>
            <a:r>
              <a:rPr lang="en-US" sz="1200" b="0" i="0" kern="1200" dirty="0">
                <a:solidFill>
                  <a:schemeClr val="tx1"/>
                </a:solidFill>
                <a:effectLst/>
                <a:latin typeface="+mn-lt"/>
                <a:ea typeface="+mn-ea"/>
                <a:cs typeface="+mn-cs"/>
              </a:rPr>
              <a:t> Guide. I was able to find the 30-to-50-percent figure there, but the important thing is that the original claim was narrower than the way Copilot presented it.  (</a:t>
            </a:r>
            <a:r>
              <a:rPr lang="en-US" sz="1200" b="0" i="0" kern="1200" dirty="0" err="1">
                <a:solidFill>
                  <a:schemeClr val="tx1"/>
                </a:solidFill>
                <a:effectLst/>
                <a:latin typeface="+mn-lt"/>
                <a:ea typeface="+mn-ea"/>
                <a:cs typeface="+mn-cs"/>
              </a:rPr>
              <a:t>Happycapy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source was talking about a 30-to-50-percent reduction in drafting time in response to a question about an estate planning firm implementing AI with a one-to-25-person headcount.</a:t>
            </a:r>
          </a:p>
          <a:p>
            <a:r>
              <a:rPr lang="en-US" sz="1200" b="0" i="0" kern="1200" dirty="0">
                <a:solidFill>
                  <a:schemeClr val="tx1"/>
                </a:solidFill>
                <a:effectLst/>
                <a:latin typeface="+mn-lt"/>
                <a:ea typeface="+mn-ea"/>
                <a:cs typeface="+mn-cs"/>
              </a:rPr>
              <a:t>That is not the same thing as evidence that estate administration generally will see a 30-to-50-percent reduction in drafting and administration time.</a:t>
            </a:r>
          </a:p>
          <a:p>
            <a:r>
              <a:rPr lang="en-US" sz="1200" b="0" i="0" kern="1200" dirty="0">
                <a:solidFill>
                  <a:schemeClr val="tx1"/>
                </a:solidFill>
                <a:effectLst/>
                <a:latin typeface="+mn-lt"/>
                <a:ea typeface="+mn-ea"/>
                <a:cs typeface="+mn-cs"/>
              </a:rPr>
              <a:t>So my verdict is </a:t>
            </a:r>
            <a:r>
              <a:rPr lang="en-US" sz="1200" b="1" i="0" kern="1200" dirty="0">
                <a:solidFill>
                  <a:schemeClr val="tx1"/>
                </a:solidFill>
                <a:effectLst/>
                <a:latin typeface="+mn-lt"/>
                <a:ea typeface="+mn-ea"/>
                <a:cs typeface="+mn-cs"/>
              </a:rPr>
              <a:t>misattributed</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number wasn't simply fabricated out of nowhere. I found a source containing the number. But Copilot broadened and changed the context of the claim. It essentially took a statistic about drafting time in a particular estate-planning-firm scenario and presented it as support for a much broader prediction about estate administration.</a:t>
            </a:r>
          </a:p>
        </p:txBody>
      </p:sp>
      <p:sp>
        <p:nvSpPr>
          <p:cNvPr id="4" name="Slide Number Placeholder 3"/>
          <p:cNvSpPr>
            <a:spLocks noGrp="1"/>
          </p:cNvSpPr>
          <p:nvPr>
            <p:ph type="sldNum" sz="quarter" idx="5"/>
          </p:nvPr>
        </p:nvSpPr>
        <p:spPr/>
        <p:txBody>
          <a:bodyPr/>
          <a:lstStyle/>
          <a:p>
            <a:fld id="{791D6288-1924-D043-8D3A-2A9078799A72}" type="slidenum">
              <a:rPr lang="en-US" smtClean="0"/>
              <a:t>6</a:t>
            </a:fld>
            <a:endParaRPr lang="en-US"/>
          </a:p>
        </p:txBody>
      </p:sp>
    </p:spTree>
    <p:extLst>
      <p:ext uri="{BB962C8B-B14F-4D97-AF65-F5344CB8AC3E}">
        <p14:creationId xmlns:p14="http://schemas.microsoft.com/office/powerpoint/2010/main" val="4050289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what would I tell others if they presented that statistic to me? I wouldn't really say there are 'colleagues' in the typical sense of this important work, but if another person either currently going through this process or expects to in the near future repeated that claim to me, let's say in a coffee meet up to ask best practices or the like, I would say: “I would be careful with that number. I was able to trace it to a source, but it doesn't support the field of estate administration, it supports drafting - for the legal team responding to us or the courts on our behalf. A claim having a number attached to it doesn't automatically make it reliable, so we shouldn't use that statistic as evidence without qualifying it. The number itself needs to be traced back to what the original source actually said.</a:t>
            </a:r>
          </a:p>
        </p:txBody>
      </p:sp>
      <p:sp>
        <p:nvSpPr>
          <p:cNvPr id="4" name="Slide Number Placeholder 3"/>
          <p:cNvSpPr>
            <a:spLocks noGrp="1"/>
          </p:cNvSpPr>
          <p:nvPr>
            <p:ph type="sldNum" sz="quarter" idx="5"/>
          </p:nvPr>
        </p:nvSpPr>
        <p:spPr/>
        <p:txBody>
          <a:bodyPr/>
          <a:lstStyle/>
          <a:p>
            <a:fld id="{791D6288-1924-D043-8D3A-2A9078799A72}" type="slidenum">
              <a:rPr lang="en-US" smtClean="0"/>
              <a:t>7</a:t>
            </a:fld>
            <a:endParaRPr lang="en-US"/>
          </a:p>
        </p:txBody>
      </p:sp>
    </p:spTree>
    <p:extLst>
      <p:ext uri="{BB962C8B-B14F-4D97-AF65-F5344CB8AC3E}">
        <p14:creationId xmlns:p14="http://schemas.microsoft.com/office/powerpoint/2010/main" val="2643077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Most importantly, a human will always be needed for the actual administration of an Estate.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certainly parts of this work that AI could help with, like organizing records, creating lists, or helping prepare information. But AI cannot be responsible or legally liable for decisions made on behalf of an estate.</a:t>
            </a:r>
          </a:p>
          <a:p>
            <a:r>
              <a:rPr lang="en-US" sz="1200" b="0" i="0" kern="1200" dirty="0">
                <a:solidFill>
                  <a:schemeClr val="tx1"/>
                </a:solidFill>
                <a:effectLst/>
                <a:latin typeface="+mn-lt"/>
                <a:ea typeface="+mn-ea"/>
                <a:cs typeface="+mn-cs"/>
              </a:rPr>
              <a:t>There is also a human dimension that I don't think AI can reasonably proxy. Family members understand the sentimental value and meaning attached to belongings in a way that an AI system cannot. A person will need to physically sort through the belongings of someone who has passed, determine what should be distributed according to the will (if one exists), what should be kept, and what needs to be cleared out.</a:t>
            </a:r>
          </a:p>
          <a:p>
            <a:r>
              <a:rPr lang="en-US" sz="1200" b="0" i="0" kern="1200" dirty="0">
                <a:solidFill>
                  <a:schemeClr val="tx1"/>
                </a:solidFill>
                <a:effectLst/>
                <a:latin typeface="+mn-lt"/>
                <a:ea typeface="+mn-ea"/>
                <a:cs typeface="+mn-cs"/>
              </a:rPr>
              <a:t>Those decisions aren't simply data-processing problems. They involve relationships, ambiguity, responsibility, and processing grief.</a:t>
            </a:r>
          </a:p>
        </p:txBody>
      </p:sp>
      <p:sp>
        <p:nvSpPr>
          <p:cNvPr id="4" name="Slide Number Placeholder 3"/>
          <p:cNvSpPr>
            <a:spLocks noGrp="1"/>
          </p:cNvSpPr>
          <p:nvPr>
            <p:ph type="sldNum" sz="quarter" idx="5"/>
          </p:nvPr>
        </p:nvSpPr>
        <p:spPr/>
        <p:txBody>
          <a:bodyPr/>
          <a:lstStyle/>
          <a:p>
            <a:fld id="{791D6288-1924-D043-8D3A-2A9078799A72}" type="slidenum">
              <a:rPr lang="en-US" smtClean="0"/>
              <a:t>8</a:t>
            </a:fld>
            <a:endParaRPr lang="en-US"/>
          </a:p>
        </p:txBody>
      </p:sp>
    </p:spTree>
    <p:extLst>
      <p:ext uri="{BB962C8B-B14F-4D97-AF65-F5344CB8AC3E}">
        <p14:creationId xmlns:p14="http://schemas.microsoft.com/office/powerpoint/2010/main" val="2218366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Overall, I think AI will probably become much more useful in estate administration, particularly for the tedious organizational work. But my experience has made me much less willing to assume that more capable AI means less need for human judgment.</a:t>
            </a:r>
          </a:p>
          <a:p>
            <a:r>
              <a:rPr lang="en-US" sz="1200" b="0" i="0" kern="1200" dirty="0">
                <a:solidFill>
                  <a:schemeClr val="tx1"/>
                </a:solidFill>
                <a:effectLst/>
                <a:latin typeface="+mn-lt"/>
                <a:ea typeface="+mn-ea"/>
                <a:cs typeface="+mn-cs"/>
              </a:rPr>
              <a:t>AI can help with the burdensome, mundane parts of the job. But when the consequences of getting something wrong are significant, the human still needs to check the work, understand the context, and ultimately take responsibility for the decisions.</a:t>
            </a:r>
          </a:p>
        </p:txBody>
      </p:sp>
      <p:sp>
        <p:nvSpPr>
          <p:cNvPr id="4" name="Slide Number Placeholder 3"/>
          <p:cNvSpPr>
            <a:spLocks noGrp="1"/>
          </p:cNvSpPr>
          <p:nvPr>
            <p:ph type="sldNum" sz="quarter" idx="5"/>
          </p:nvPr>
        </p:nvSpPr>
        <p:spPr/>
        <p:txBody>
          <a:bodyPr/>
          <a:lstStyle/>
          <a:p>
            <a:fld id="{791D6288-1924-D043-8D3A-2A9078799A72}" type="slidenum">
              <a:rPr lang="en-US" smtClean="0"/>
              <a:t>9</a:t>
            </a:fld>
            <a:endParaRPr lang="en-US"/>
          </a:p>
        </p:txBody>
      </p:sp>
    </p:spTree>
    <p:extLst>
      <p:ext uri="{BB962C8B-B14F-4D97-AF65-F5344CB8AC3E}">
        <p14:creationId xmlns:p14="http://schemas.microsoft.com/office/powerpoint/2010/main" val="329219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rIns="45720"/>
          <a:lstStyle/>
          <a:p>
            <a:fld id="{6D22F896-40B5-4ADD-8801-0D06FADFA095}" type="slidenum">
              <a:rPr lang="en-US" smtClean="0"/>
              <a:pPr/>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6857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8030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19038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38986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7447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9005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68134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5002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48837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88879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10/25/26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82479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7674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48A87A34-81AB-432B-8DAE-1953F412C126}" type="datetimeFigureOut">
              <a:rPr lang="en-US" smtClean="0"/>
              <a:pPr/>
              <a:t>10/25/26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smtClean="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11157051"/>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4" r:id="rId12"/>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image" Target="../media/image6.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diagramDrawing" Target="../diagrams/drawing1.xml"/><Relationship Id="rId3" Type="http://schemas.openxmlformats.org/officeDocument/2006/relationships/slideLayout" Target="../slideLayouts/slideLayout9.xml"/><Relationship Id="rId7" Type="http://schemas.openxmlformats.org/officeDocument/2006/relationships/image" Target="../media/image3.png"/><Relationship Id="rId12" Type="http://schemas.openxmlformats.org/officeDocument/2006/relationships/diagramColors" Target="../diagrams/colors1.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11" Type="http://schemas.openxmlformats.org/officeDocument/2006/relationships/diagramQuickStyle" Target="../diagrams/quickStyle1.xml"/><Relationship Id="rId5" Type="http://schemas.openxmlformats.org/officeDocument/2006/relationships/image" Target="../media/image1.jpeg"/><Relationship Id="rId10" Type="http://schemas.openxmlformats.org/officeDocument/2006/relationships/diagramLayout" Target="../diagrams/layout1.xml"/><Relationship Id="rId4" Type="http://schemas.openxmlformats.org/officeDocument/2006/relationships/notesSlide" Target="../notesSlides/notesSlide3.xml"/><Relationship Id="rId9" Type="http://schemas.openxmlformats.org/officeDocument/2006/relationships/diagramData" Target="../diagrams/data1.xml"/><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8.xml"/><Relationship Id="rId7" Type="http://schemas.openxmlformats.org/officeDocument/2006/relationships/image" Target="../media/image3.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4.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5.xml"/><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5.png"/><Relationship Id="rId2" Type="http://schemas.microsoft.com/office/2007/relationships/media" Target="../media/media6.m4a"/><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slideLayout" Target="../slideLayouts/slideLayout2.xml"/><Relationship Id="rId7" Type="http://schemas.openxmlformats.org/officeDocument/2006/relationships/diagramData" Target="../diagrams/data2.xml"/><Relationship Id="rId12" Type="http://schemas.openxmlformats.org/officeDocument/2006/relationships/image" Target="../media/image5.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11" Type="http://schemas.microsoft.com/office/2007/relationships/diagramDrawing" Target="../diagrams/drawing2.xml"/><Relationship Id="rId5" Type="http://schemas.openxmlformats.org/officeDocument/2006/relationships/image" Target="../media/image1.jpeg"/><Relationship Id="rId10" Type="http://schemas.openxmlformats.org/officeDocument/2006/relationships/diagramColors" Target="../diagrams/colors2.xml"/><Relationship Id="rId4" Type="http://schemas.openxmlformats.org/officeDocument/2006/relationships/notesSlide" Target="../notesSlides/notesSlide7.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8.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3.png"/><Relationship Id="rId12" Type="http://schemas.microsoft.com/office/2007/relationships/diagramDrawing" Target="../diagrams/drawing3.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11" Type="http://schemas.openxmlformats.org/officeDocument/2006/relationships/diagramColors" Target="../diagrams/colors3.xml"/><Relationship Id="rId5" Type="http://schemas.openxmlformats.org/officeDocument/2006/relationships/image" Target="../media/image1.jpeg"/><Relationship Id="rId10" Type="http://schemas.openxmlformats.org/officeDocument/2006/relationships/diagramQuickStyle" Target="../diagrams/quickStyle3.xml"/><Relationship Id="rId4" Type="http://schemas.openxmlformats.org/officeDocument/2006/relationships/notesSlide" Target="../notesSlides/notesSlide9.xml"/><Relationship Id="rId9"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47E635D-C3B4-465B-AF24-991B6BF63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4A0623D0-396B-499E-BBFB-C17F1BB0F2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9" name="Picture 8">
            <a:extLst>
              <a:ext uri="{FF2B5EF4-FFF2-40B4-BE49-F238E27FC236}">
                <a16:creationId xmlns:a16="http://schemas.microsoft.com/office/drawing/2014/main" id="{C110028D-D31F-5ABC-8854-F885A416BE55}"/>
              </a:ext>
            </a:extLst>
          </p:cNvPr>
          <p:cNvPicPr>
            <a:picLocks noChangeAspect="1"/>
          </p:cNvPicPr>
          <p:nvPr/>
        </p:nvPicPr>
        <p:blipFill>
          <a:blip r:embed="rId6">
            <a:alphaModFix amt="35000"/>
          </a:blip>
          <a:srcRect l="16891" r="1" b="1"/>
          <a:stretch>
            <a:fillRect/>
          </a:stretch>
        </p:blipFill>
        <p:spPr>
          <a:xfrm>
            <a:off x="19965" y="-2"/>
            <a:ext cx="12191695" cy="6858000"/>
          </a:xfrm>
          <a:prstGeom prst="rect">
            <a:avLst/>
          </a:prstGeom>
        </p:spPr>
      </p:pic>
      <p:pic>
        <p:nvPicPr>
          <p:cNvPr id="18" name="Picture 17">
            <a:extLst>
              <a:ext uri="{FF2B5EF4-FFF2-40B4-BE49-F238E27FC236}">
                <a16:creationId xmlns:a16="http://schemas.microsoft.com/office/drawing/2014/main" id="{21AF192C-698D-4635-9C9F-F9769A56A9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2" name="Title 1">
            <a:extLst>
              <a:ext uri="{FF2B5EF4-FFF2-40B4-BE49-F238E27FC236}">
                <a16:creationId xmlns:a16="http://schemas.microsoft.com/office/drawing/2014/main" id="{5A5CB06E-2937-08D7-98C4-B0E733F5C88D}"/>
              </a:ext>
            </a:extLst>
          </p:cNvPr>
          <p:cNvSpPr>
            <a:spLocks noGrp="1"/>
          </p:cNvSpPr>
          <p:nvPr>
            <p:ph type="ctrTitle"/>
          </p:nvPr>
        </p:nvSpPr>
        <p:spPr>
          <a:xfrm>
            <a:off x="2292054" y="3428998"/>
            <a:ext cx="5816024" cy="2623459"/>
          </a:xfrm>
        </p:spPr>
        <p:txBody>
          <a:bodyPr>
            <a:normAutofit/>
          </a:bodyPr>
          <a:lstStyle/>
          <a:p>
            <a:r>
              <a:rPr lang="en-US" sz="4600" dirty="0"/>
              <a:t>Trust and Verification in Estate Administration</a:t>
            </a:r>
          </a:p>
        </p:txBody>
      </p:sp>
      <p:sp>
        <p:nvSpPr>
          <p:cNvPr id="3" name="Subtitle 2">
            <a:extLst>
              <a:ext uri="{FF2B5EF4-FFF2-40B4-BE49-F238E27FC236}">
                <a16:creationId xmlns:a16="http://schemas.microsoft.com/office/drawing/2014/main" id="{9B5468C5-E206-19DE-A24A-7DC16C45522A}"/>
              </a:ext>
            </a:extLst>
          </p:cNvPr>
          <p:cNvSpPr>
            <a:spLocks noGrp="1"/>
          </p:cNvSpPr>
          <p:nvPr>
            <p:ph type="subTitle" idx="1"/>
          </p:nvPr>
        </p:nvSpPr>
        <p:spPr>
          <a:xfrm>
            <a:off x="2451093" y="2268786"/>
            <a:ext cx="5676648" cy="1160213"/>
          </a:xfrm>
        </p:spPr>
        <p:txBody>
          <a:bodyPr>
            <a:normAutofit/>
          </a:bodyPr>
          <a:lstStyle/>
          <a:p>
            <a:r>
              <a:rPr lang="en-US" sz="2000"/>
              <a:t>Evaluating AI’s Current Reality, Future Horizon, and the Human Aspect</a:t>
            </a:r>
          </a:p>
        </p:txBody>
      </p:sp>
      <p:sp>
        <p:nvSpPr>
          <p:cNvPr id="20" name="Rectangle 19">
            <a:extLst>
              <a:ext uri="{FF2B5EF4-FFF2-40B4-BE49-F238E27FC236}">
                <a16:creationId xmlns:a16="http://schemas.microsoft.com/office/drawing/2014/main" id="{14E56C4B-C9E0-4F01-AF43-E69279A06A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C654A17-56DA-4921-A42B-DE255FA66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Audio 20">
            <a:extLst>
              <a:ext uri="{FF2B5EF4-FFF2-40B4-BE49-F238E27FC236}">
                <a16:creationId xmlns:a16="http://schemas.microsoft.com/office/drawing/2014/main" id="{5958017C-016D-0A66-AA86-2001038FEE0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15223921"/>
      </p:ext>
    </p:extLst>
  </p:cSld>
  <p:clrMapOvr>
    <a:masterClrMapping/>
  </p:clrMapOvr>
  <mc:AlternateContent xmlns:mc="http://schemas.openxmlformats.org/markup-compatibility/2006" xmlns:p14="http://schemas.microsoft.com/office/powerpoint/2010/main">
    <mc:Choice Requires="p14">
      <p:transition spd="slow" p14:dur="2000" advTm="25142"/>
    </mc:Choice>
    <mc:Fallback xmlns="">
      <p:transition spd="slow" advTm="251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par>
                                <p:cTn id="10" presetID="10" presetClass="entr" presetSubtype="0" fill="hold" grpId="0" nodeType="withEffect">
                                  <p:stCondLst>
                                    <p:cond delay="2000"/>
                                  </p:stCondLst>
                                  <p:iterate type="lt">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21"/>
                </p:tgtEl>
              </p:cMediaNode>
            </p:audi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55" name="Picture 54">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56" name="Rectangle 55">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7" name="Rectangle 56">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8" name="Rectangle 57">
            <a:extLst>
              <a:ext uri="{FF2B5EF4-FFF2-40B4-BE49-F238E27FC236}">
                <a16:creationId xmlns:a16="http://schemas.microsoft.com/office/drawing/2014/main" id="{24923D72-7E69-464B-94C5-B2530008D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9" name="Rectangle 58">
            <a:extLst>
              <a:ext uri="{FF2B5EF4-FFF2-40B4-BE49-F238E27FC236}">
                <a16:creationId xmlns:a16="http://schemas.microsoft.com/office/drawing/2014/main" id="{A00CCC86-7A88-4DFF-A0D0-6604606A2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0" name="TextBox 59">
            <a:extLst>
              <a:ext uri="{FF2B5EF4-FFF2-40B4-BE49-F238E27FC236}">
                <a16:creationId xmlns:a16="http://schemas.microsoft.com/office/drawing/2014/main" id="{E1F8ABFD-155B-4386-AE33-6E13057CFCF3}"/>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4943" y="641225"/>
            <a:ext cx="415636"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61" name="Rectangle 60">
            <a:extLst>
              <a:ext uri="{FF2B5EF4-FFF2-40B4-BE49-F238E27FC236}">
                <a16:creationId xmlns:a16="http://schemas.microsoft.com/office/drawing/2014/main" id="{3FAD17B9-9E6C-4DD1-9728-97B5E5FC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2" name="Rectangle 61">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Placeholder 20">
            <a:extLst>
              <a:ext uri="{FF2B5EF4-FFF2-40B4-BE49-F238E27FC236}">
                <a16:creationId xmlns:a16="http://schemas.microsoft.com/office/drawing/2014/main" id="{F96A03D4-8121-06A4-6C1F-4113A6CD3382}"/>
              </a:ext>
            </a:extLst>
          </p:cNvPr>
          <p:cNvPicPr>
            <a:picLocks noGrp="1" noChangeAspect="1"/>
          </p:cNvPicPr>
          <p:nvPr>
            <p:ph type="pic" idx="1"/>
          </p:nvPr>
        </p:nvPicPr>
        <p:blipFill>
          <a:blip r:embed="rId7">
            <a:duotone>
              <a:schemeClr val="bg2">
                <a:shade val="45000"/>
                <a:satMod val="135000"/>
              </a:schemeClr>
              <a:prstClr val="white"/>
            </a:duotone>
            <a:alphaModFix amt="25000"/>
          </a:blip>
          <a:srcRect r="7557"/>
          <a:stretch>
            <a:fillRect/>
          </a:stretch>
        </p:blipFill>
        <p:spPr>
          <a:xfrm>
            <a:off x="153" y="10"/>
            <a:ext cx="12191695" cy="6857990"/>
          </a:xfrm>
          <a:prstGeom prst="rect">
            <a:avLst/>
          </a:prstGeom>
          <a:solidFill>
            <a:srgbClr val="FFFFFF">
              <a:alpha val="10000"/>
            </a:srgbClr>
          </a:solidFill>
          <a:scene3d>
            <a:camera prst="orthographicFront"/>
            <a:lightRig rig="twoPt" dir="t">
              <a:rot lat="0" lon="0" rev="7200000"/>
            </a:lightRig>
          </a:scene3d>
          <a:sp3d>
            <a:bevelT w="25400" h="19050"/>
            <a:contourClr>
              <a:srgbClr val="FFFFFF"/>
            </a:contourClr>
          </a:sp3d>
        </p:spPr>
      </p:pic>
      <p:pic>
        <p:nvPicPr>
          <p:cNvPr id="63" name="Picture 62">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9" name="Title 18">
            <a:extLst>
              <a:ext uri="{FF2B5EF4-FFF2-40B4-BE49-F238E27FC236}">
                <a16:creationId xmlns:a16="http://schemas.microsoft.com/office/drawing/2014/main" id="{045452ED-3F59-D61B-5AAC-A0BBAE4F7923}"/>
              </a:ext>
            </a:extLst>
          </p:cNvPr>
          <p:cNvSpPr>
            <a:spLocks noGrp="1"/>
          </p:cNvSpPr>
          <p:nvPr>
            <p:ph type="title"/>
          </p:nvPr>
        </p:nvSpPr>
        <p:spPr>
          <a:xfrm>
            <a:off x="2611808" y="808056"/>
            <a:ext cx="7958331" cy="1077229"/>
          </a:xfrm>
        </p:spPr>
        <p:txBody>
          <a:bodyPr vert="horz" lIns="91440" tIns="45720" rIns="91440" bIns="45720" rtlCol="0" anchor="t">
            <a:normAutofit/>
          </a:bodyPr>
          <a:lstStyle/>
          <a:p>
            <a:r>
              <a:rPr lang="en-US" sz="3400" dirty="0"/>
              <a:t>Current Status of AI In Probating an Estate for Fiduciaries</a:t>
            </a:r>
          </a:p>
        </p:txBody>
      </p:sp>
      <p:sp>
        <p:nvSpPr>
          <p:cNvPr id="64" name="Rectangle 63">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28C4FB80-9E53-2CB6-286D-6DD4E382398A}"/>
              </a:ext>
            </a:extLst>
          </p:cNvPr>
          <p:cNvSpPr>
            <a:spLocks noGrp="1"/>
          </p:cNvSpPr>
          <p:nvPr>
            <p:ph type="body" sz="half" idx="2"/>
          </p:nvPr>
        </p:nvSpPr>
        <p:spPr>
          <a:xfrm>
            <a:off x="2610579" y="2052116"/>
            <a:ext cx="7959560" cy="3997828"/>
          </a:xfrm>
        </p:spPr>
        <p:txBody>
          <a:bodyPr vert="horz" lIns="91440" tIns="45720" rIns="91440" bIns="45720" rtlCol="0" anchor="ctr">
            <a:normAutofit/>
          </a:bodyPr>
          <a:lstStyle/>
          <a:p>
            <a:pPr>
              <a:buFont typeface="Wingdings" panose="05000000000000000000" pitchFamily="2" charset="2"/>
              <a:buChar char="§"/>
            </a:pPr>
            <a:r>
              <a:rPr lang="en-US" dirty="0"/>
              <a:t>Helpful: Organizing large amounts of data into court-compliant formats. Reduced hours of data entry and organization. </a:t>
            </a:r>
          </a:p>
          <a:p>
            <a:pPr>
              <a:buFont typeface="Wingdings" panose="05000000000000000000" pitchFamily="2" charset="2"/>
              <a:buChar char="§"/>
            </a:pPr>
            <a:r>
              <a:rPr lang="en-US" dirty="0"/>
              <a:t>Harmful: Dropping critical legal context. This could have been due to token limitations that the AI did not indicate any notification of, or a drop in context understanding. </a:t>
            </a:r>
          </a:p>
        </p:txBody>
      </p:sp>
      <p:pic>
        <p:nvPicPr>
          <p:cNvPr id="8" name="Audio 7">
            <a:extLst>
              <a:ext uri="{FF2B5EF4-FFF2-40B4-BE49-F238E27FC236}">
                <a16:creationId xmlns:a16="http://schemas.microsoft.com/office/drawing/2014/main" id="{84C2E7C9-CE58-75CF-42E4-144822F1F1A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18076204"/>
      </p:ext>
    </p:extLst>
  </p:cSld>
  <p:clrMapOvr>
    <a:masterClrMapping/>
  </p:clrMapOvr>
  <mc:AlternateContent xmlns:mc="http://schemas.openxmlformats.org/markup-compatibility/2006" xmlns:p14="http://schemas.microsoft.com/office/powerpoint/2010/main">
    <mc:Choice Requires="p14">
      <p:transition spd="slow" p14:dur="1500" advTm="16239">
        <p:split orient="vert"/>
      </p:transition>
    </mc:Choice>
    <mc:Fallback xmlns="">
      <p:transition spd="slow" advTm="16239">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pic>
        <p:nvPicPr>
          <p:cNvPr id="189" name="Picture 188">
            <a:extLst>
              <a:ext uri="{FF2B5EF4-FFF2-40B4-BE49-F238E27FC236}">
                <a16:creationId xmlns:a16="http://schemas.microsoft.com/office/drawing/2014/main" id="{2FA3880A-8D8F-466C-A4A1-F07BCDD371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90" name="Picture 189">
            <a:extLst>
              <a:ext uri="{FF2B5EF4-FFF2-40B4-BE49-F238E27FC236}">
                <a16:creationId xmlns:a16="http://schemas.microsoft.com/office/drawing/2014/main" id="{3C0A64CB-20A1-4508-B568-284EB04F78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91" name="Rectangle 190">
            <a:extLst>
              <a:ext uri="{FF2B5EF4-FFF2-40B4-BE49-F238E27FC236}">
                <a16:creationId xmlns:a16="http://schemas.microsoft.com/office/drawing/2014/main" id="{8DA14841-53A4-4935-BE65-C8373B8A6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2" name="Rectangle 191">
            <a:extLst>
              <a:ext uri="{FF2B5EF4-FFF2-40B4-BE49-F238E27FC236}">
                <a16:creationId xmlns:a16="http://schemas.microsoft.com/office/drawing/2014/main" id="{9877C2CF-B2DD-41C8-8B5E-152673376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3" name="Rectangle 192">
            <a:extLst>
              <a:ext uri="{FF2B5EF4-FFF2-40B4-BE49-F238E27FC236}">
                <a16:creationId xmlns:a16="http://schemas.microsoft.com/office/drawing/2014/main" id="{24923D72-7E69-464B-94C5-B2530008D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4" name="Rectangle 193">
            <a:extLst>
              <a:ext uri="{FF2B5EF4-FFF2-40B4-BE49-F238E27FC236}">
                <a16:creationId xmlns:a16="http://schemas.microsoft.com/office/drawing/2014/main" id="{A00CCC86-7A88-4DFF-A0D0-6604606A2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5" name="TextBox 194">
            <a:extLst>
              <a:ext uri="{FF2B5EF4-FFF2-40B4-BE49-F238E27FC236}">
                <a16:creationId xmlns:a16="http://schemas.microsoft.com/office/drawing/2014/main" id="{E1F8ABFD-155B-4386-AE33-6E13057CFCF3}"/>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4943" y="641225"/>
            <a:ext cx="415636"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196" name="Rectangle 195">
            <a:extLst>
              <a:ext uri="{FF2B5EF4-FFF2-40B4-BE49-F238E27FC236}">
                <a16:creationId xmlns:a16="http://schemas.microsoft.com/office/drawing/2014/main" id="{A53581F1-58F0-4AB7-A8A0-209066727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Placeholder 10">
            <a:extLst>
              <a:ext uri="{FF2B5EF4-FFF2-40B4-BE49-F238E27FC236}">
                <a16:creationId xmlns:a16="http://schemas.microsoft.com/office/drawing/2014/main" id="{43083E15-78A5-A4EC-2D8F-1482657485AE}"/>
              </a:ext>
            </a:extLst>
          </p:cNvPr>
          <p:cNvPicPr>
            <a:picLocks noGrp="1" noChangeAspect="1"/>
          </p:cNvPicPr>
          <p:nvPr>
            <p:ph type="pic" idx="1"/>
          </p:nvPr>
        </p:nvPicPr>
        <p:blipFill>
          <a:blip r:embed="rId8"/>
          <a:srcRect t="9002" r="-1" b="21765"/>
          <a:stretch>
            <a:fillRect/>
          </a:stretch>
        </p:blipFill>
        <p:spPr>
          <a:xfrm>
            <a:off x="20" y="227"/>
            <a:ext cx="12191675" cy="6858000"/>
          </a:xfrm>
          <a:prstGeom prst="rect">
            <a:avLst/>
          </a:prstGeom>
          <a:solidFill>
            <a:srgbClr val="FFFFFF">
              <a:alpha val="10000"/>
            </a:srgbClr>
          </a:solidFill>
          <a:scene3d>
            <a:camera prst="orthographicFront"/>
            <a:lightRig rig="twoPt" dir="t">
              <a:rot lat="0" lon="0" rev="7200000"/>
            </a:lightRig>
          </a:scene3d>
          <a:sp3d>
            <a:bevelT w="25400" h="19050"/>
            <a:contourClr>
              <a:srgbClr val="FFFFFF"/>
            </a:contourClr>
          </a:sp3d>
        </p:spPr>
      </p:pic>
      <p:pic>
        <p:nvPicPr>
          <p:cNvPr id="197" name="Picture 196">
            <a:extLst>
              <a:ext uri="{FF2B5EF4-FFF2-40B4-BE49-F238E27FC236}">
                <a16:creationId xmlns:a16="http://schemas.microsoft.com/office/drawing/2014/main" id="{7F805E00-AB38-4A7C-BECE-0DED0DECE7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98" name="Picture 197">
            <a:extLst>
              <a:ext uri="{FF2B5EF4-FFF2-40B4-BE49-F238E27FC236}">
                <a16:creationId xmlns:a16="http://schemas.microsoft.com/office/drawing/2014/main" id="{86805C35-00DC-4889-A7FD-065BDE84CE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99" name="Rectangle 198">
            <a:extLst>
              <a:ext uri="{FF2B5EF4-FFF2-40B4-BE49-F238E27FC236}">
                <a16:creationId xmlns:a16="http://schemas.microsoft.com/office/drawing/2014/main" id="{F4E6F7CC-42A8-4DCA-B793-34EE7A20C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349DF81A-9E35-48CB-A13A-0F3044872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DBF782AB-FEB4-4E4B-B045-C02BC6558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4" y="0"/>
            <a:ext cx="7925404"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AE536AD-13CC-8D5D-5917-E9DCD6C46C0C}"/>
              </a:ext>
            </a:extLst>
          </p:cNvPr>
          <p:cNvSpPr>
            <a:spLocks noGrp="1"/>
          </p:cNvSpPr>
          <p:nvPr>
            <p:ph type="title"/>
          </p:nvPr>
        </p:nvSpPr>
        <p:spPr>
          <a:xfrm>
            <a:off x="2611809" y="808056"/>
            <a:ext cx="5516236" cy="1077229"/>
          </a:xfrm>
        </p:spPr>
        <p:txBody>
          <a:bodyPr vert="horz" lIns="91440" tIns="45720" rIns="91440" bIns="45720" rtlCol="0" anchor="t">
            <a:normAutofit/>
          </a:bodyPr>
          <a:lstStyle/>
          <a:p>
            <a:r>
              <a:rPr lang="en-US" sz="3400" dirty="0"/>
              <a:t>How time-heavy work becomes structured data. </a:t>
            </a:r>
          </a:p>
        </p:txBody>
      </p:sp>
      <p:sp>
        <p:nvSpPr>
          <p:cNvPr id="202" name="Rectangle 201">
            <a:extLst>
              <a:ext uri="{FF2B5EF4-FFF2-40B4-BE49-F238E27FC236}">
                <a16:creationId xmlns:a16="http://schemas.microsoft.com/office/drawing/2014/main" id="{F4E9FDCC-E070-4D2E-9AE6-67D4AE6C0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937"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 name="Text Placeholder 8">
            <a:extLst>
              <a:ext uri="{FF2B5EF4-FFF2-40B4-BE49-F238E27FC236}">
                <a16:creationId xmlns:a16="http://schemas.microsoft.com/office/drawing/2014/main" id="{638B0881-95A2-8F2D-E227-AD03891EAAC1}"/>
              </a:ext>
            </a:extLst>
          </p:cNvPr>
          <p:cNvGraphicFramePr/>
          <p:nvPr>
            <p:extLst>
              <p:ext uri="{D42A27DB-BD31-4B8C-83A1-F6EECF244321}">
                <p14:modId xmlns:p14="http://schemas.microsoft.com/office/powerpoint/2010/main" val="4148988692"/>
              </p:ext>
            </p:extLst>
          </p:nvPr>
        </p:nvGraphicFramePr>
        <p:xfrm>
          <a:off x="1516649" y="1818387"/>
          <a:ext cx="7071539" cy="474377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70" name="Audio 169">
            <a:extLst>
              <a:ext uri="{FF2B5EF4-FFF2-40B4-BE49-F238E27FC236}">
                <a16:creationId xmlns:a16="http://schemas.microsoft.com/office/drawing/2014/main" id="{A42ECBB9-69D2-26C3-E431-C5A607A766ED}"/>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85859420"/>
      </p:ext>
    </p:extLst>
  </p:cSld>
  <p:clrMapOvr>
    <a:masterClrMapping/>
  </p:clrMapOvr>
  <p:transition spd="slow" advTm="41828">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0" name="Picture 19">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2" name="Rectangle 21">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E1F0989E-BFBB-43E4-927B-2C51C7AE26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8ACA2469-91AA-459B-A5DD-8FFC0F70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TextBox 29">
            <a:extLst>
              <a:ext uri="{FF2B5EF4-FFF2-40B4-BE49-F238E27FC236}">
                <a16:creationId xmlns:a16="http://schemas.microsoft.com/office/drawing/2014/main" id="{97860FD2-CA19-4064-AA6F-68050C3D201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4943" y="641225"/>
            <a:ext cx="415636"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32" name="Rectangle 31">
            <a:extLst>
              <a:ext uri="{FF2B5EF4-FFF2-40B4-BE49-F238E27FC236}">
                <a16:creationId xmlns:a16="http://schemas.microsoft.com/office/drawing/2014/main" id="{8BEDFD2F-1480-498D-9A62-BA55B14A3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52D381FB-9400-4C85-9074-8D2C4A88D8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6" name="Picture 35">
            <a:extLst>
              <a:ext uri="{FF2B5EF4-FFF2-40B4-BE49-F238E27FC236}">
                <a16:creationId xmlns:a16="http://schemas.microsoft.com/office/drawing/2014/main" id="{048C39C2-D375-4197-8882-9EBD58C853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8" name="Rectangle 37">
            <a:extLst>
              <a:ext uri="{FF2B5EF4-FFF2-40B4-BE49-F238E27FC236}">
                <a16:creationId xmlns:a16="http://schemas.microsoft.com/office/drawing/2014/main" id="{C306EEC9-6E83-4555-A9D3-7910ED27B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86F7B80-3B04-4C72-BA77-E34EF7FAC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D1AC6C6-FE68-4B13-BFCF-D0E8B3D817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F78A08B-4C7D-5F98-EF54-D0AD95F9783C}"/>
              </a:ext>
            </a:extLst>
          </p:cNvPr>
          <p:cNvSpPr>
            <a:spLocks noGrp="1"/>
          </p:cNvSpPr>
          <p:nvPr>
            <p:ph type="title"/>
          </p:nvPr>
        </p:nvSpPr>
        <p:spPr>
          <a:xfrm>
            <a:off x="1964445" y="808056"/>
            <a:ext cx="2668106" cy="1077229"/>
          </a:xfrm>
        </p:spPr>
        <p:txBody>
          <a:bodyPr vert="horz" lIns="91440" tIns="45720" rIns="91440" bIns="45720" rtlCol="0" anchor="t">
            <a:normAutofit/>
          </a:bodyPr>
          <a:lstStyle/>
          <a:p>
            <a:r>
              <a:rPr lang="en-US" sz="2200"/>
              <a:t>Unintentional Harms with Real Consequences</a:t>
            </a:r>
          </a:p>
        </p:txBody>
      </p:sp>
      <p:sp>
        <p:nvSpPr>
          <p:cNvPr id="9" name="Text Placeholder 8">
            <a:extLst>
              <a:ext uri="{FF2B5EF4-FFF2-40B4-BE49-F238E27FC236}">
                <a16:creationId xmlns:a16="http://schemas.microsoft.com/office/drawing/2014/main" id="{4557838D-4A42-A0FA-E0BD-8B1D6A1C5090}"/>
              </a:ext>
            </a:extLst>
          </p:cNvPr>
          <p:cNvSpPr>
            <a:spLocks noGrp="1"/>
          </p:cNvSpPr>
          <p:nvPr>
            <p:ph type="body" sz="half" idx="2"/>
          </p:nvPr>
        </p:nvSpPr>
        <p:spPr>
          <a:xfrm>
            <a:off x="1131972" y="1885285"/>
            <a:ext cx="4181363" cy="4587704"/>
          </a:xfrm>
        </p:spPr>
        <p:txBody>
          <a:bodyPr vert="horz" lIns="91440" tIns="45720" rIns="91440" bIns="45720" rtlCol="0" anchor="ctr">
            <a:normAutofit/>
          </a:bodyPr>
          <a:lstStyle/>
          <a:p>
            <a:pPr>
              <a:lnSpc>
                <a:spcPct val="110000"/>
              </a:lnSpc>
              <a:buFont typeface="Wingdings" panose="05000000000000000000" pitchFamily="2" charset="2"/>
              <a:buChar char="§"/>
            </a:pPr>
            <a:r>
              <a:rPr lang="en-US" sz="1200" dirty="0"/>
              <a:t>AI was tasked with outlining the duties for Administrators from the 11-page Vermont Probate Estate Booklet</a:t>
            </a:r>
            <a:br>
              <a:rPr lang="en-US" sz="1200" dirty="0"/>
            </a:br>
            <a:endParaRPr lang="en-US" sz="1200" dirty="0"/>
          </a:p>
          <a:p>
            <a:pPr>
              <a:lnSpc>
                <a:spcPct val="110000"/>
              </a:lnSpc>
              <a:buFont typeface="Wingdings" panose="05000000000000000000" pitchFamily="2" charset="2"/>
              <a:buChar char="§"/>
            </a:pPr>
            <a:r>
              <a:rPr lang="en-US" sz="1200" b="1" dirty="0"/>
              <a:t>What Went Wrong? </a:t>
            </a:r>
            <a:br>
              <a:rPr lang="en-US" sz="1200" b="1" dirty="0"/>
            </a:br>
            <a:r>
              <a:rPr lang="en-US" sz="1200" dirty="0"/>
              <a:t>AI dropped crucial context, which materially changed the expectations of when an inventory of assets should be submitted to the court </a:t>
            </a:r>
            <a:br>
              <a:rPr lang="en-US" sz="1200" dirty="0"/>
            </a:br>
            <a:endParaRPr lang="en-US" sz="1200" dirty="0"/>
          </a:p>
          <a:p>
            <a:pPr>
              <a:lnSpc>
                <a:spcPct val="110000"/>
              </a:lnSpc>
              <a:buFont typeface="Wingdings" panose="05000000000000000000" pitchFamily="2" charset="2"/>
              <a:buChar char="§"/>
            </a:pPr>
            <a:r>
              <a:rPr lang="en-US" sz="1200" b="1" dirty="0"/>
              <a:t>What is the Harm? </a:t>
            </a:r>
            <a:br>
              <a:rPr lang="en-US" sz="1200" b="1" dirty="0"/>
            </a:br>
            <a:r>
              <a:rPr lang="en-US" sz="1200" dirty="0"/>
              <a:t>30 days from death vs. 30 days from court appointment are significantly different timelines, one of which could have the fiduciary removed by the court from acting on behalf of their loved one.</a:t>
            </a:r>
          </a:p>
        </p:txBody>
      </p:sp>
      <p:sp>
        <p:nvSpPr>
          <p:cNvPr id="44" name="Rectangle 43">
            <a:extLst>
              <a:ext uri="{FF2B5EF4-FFF2-40B4-BE49-F238E27FC236}">
                <a16:creationId xmlns:a16="http://schemas.microsoft.com/office/drawing/2014/main" id="{7E2C0214-1438-4F5F-8BB7-847D7B2B3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151" y="0"/>
            <a:ext cx="595084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a:extLst>
              <a:ext uri="{FF2B5EF4-FFF2-40B4-BE49-F238E27FC236}">
                <a16:creationId xmlns:a16="http://schemas.microsoft.com/office/drawing/2014/main" id="{0AA60D2F-9A28-D549-F9B5-297643C96ED3}"/>
              </a:ext>
            </a:extLst>
          </p:cNvPr>
          <p:cNvPicPr>
            <a:picLocks noGrp="1" noChangeAspect="1"/>
          </p:cNvPicPr>
          <p:nvPr>
            <p:ph idx="1"/>
          </p:nvPr>
        </p:nvPicPr>
        <p:blipFill>
          <a:blip r:embed="rId8"/>
          <a:stretch>
            <a:fillRect/>
          </a:stretch>
        </p:blipFill>
        <p:spPr>
          <a:xfrm>
            <a:off x="5756053" y="1333660"/>
            <a:ext cx="5303975" cy="4190139"/>
          </a:xfrm>
          <a:prstGeom prst="rect">
            <a:avLst/>
          </a:prstGeom>
          <a:ln w="12700">
            <a:noFill/>
          </a:ln>
        </p:spPr>
      </p:pic>
      <p:sp>
        <p:nvSpPr>
          <p:cNvPr id="46" name="Rectangle 45">
            <a:extLst>
              <a:ext uri="{FF2B5EF4-FFF2-40B4-BE49-F238E27FC236}">
                <a16:creationId xmlns:a16="http://schemas.microsoft.com/office/drawing/2014/main" id="{41CFFB3C-DBCC-498B-B635-CD1FA730D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6044" y="240175"/>
            <a:ext cx="5461080" cy="6371837"/>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BB289EA-43E0-4FC3-A38C-8168D8F18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 name="Audio 145">
            <a:extLst>
              <a:ext uri="{FF2B5EF4-FFF2-40B4-BE49-F238E27FC236}">
                <a16:creationId xmlns:a16="http://schemas.microsoft.com/office/drawing/2014/main" id="{8A919280-067C-6D47-195C-A14DE354C9BE}"/>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521885804"/>
      </p:ext>
    </p:extLst>
  </p:cSld>
  <p:clrMapOvr>
    <a:masterClrMapping/>
  </p:clrMapOvr>
  <mc:AlternateContent xmlns:mc="http://schemas.openxmlformats.org/markup-compatibility/2006" xmlns:p14="http://schemas.microsoft.com/office/powerpoint/2010/main">
    <mc:Choice Requires="p14">
      <p:transition spd="slow" p14:dur="3400" advTm="59754">
        <p14:reveal/>
      </p:transition>
    </mc:Choice>
    <mc:Fallback xmlns="">
      <p:transition spd="slow" advTm="5975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38B74A5-5968-4DF1-8AFA-94263EF30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72">
            <a:extLst>
              <a:ext uri="{FF2B5EF4-FFF2-40B4-BE49-F238E27FC236}">
                <a16:creationId xmlns:a16="http://schemas.microsoft.com/office/drawing/2014/main" id="{C1874702-3EAA-4145-92E7-D86634F51FA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75" name="Picture 74">
            <a:extLst>
              <a:ext uri="{FF2B5EF4-FFF2-40B4-BE49-F238E27FC236}">
                <a16:creationId xmlns:a16="http://schemas.microsoft.com/office/drawing/2014/main" id="{7F65C36C-8595-4959-8CE9-D9C6761AF0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77" name="Rectangle 76">
            <a:extLst>
              <a:ext uri="{FF2B5EF4-FFF2-40B4-BE49-F238E27FC236}">
                <a16:creationId xmlns:a16="http://schemas.microsoft.com/office/drawing/2014/main" id="{B64656E8-6356-43BD-A564-F1907B637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C3EB0778-A35B-44D4-A0F1-35A45FC7A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EF7AB42C-7F78-4FAE-8A68-1156446B4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ECAF00A7-E7BA-BA19-A2DD-B8C47079EFBA}"/>
              </a:ext>
            </a:extLst>
          </p:cNvPr>
          <p:cNvSpPr>
            <a:spLocks noGrp="1"/>
          </p:cNvSpPr>
          <p:nvPr>
            <p:ph type="title"/>
          </p:nvPr>
        </p:nvSpPr>
        <p:spPr>
          <a:xfrm>
            <a:off x="1051121" y="306794"/>
            <a:ext cx="6292502" cy="1077229"/>
          </a:xfrm>
        </p:spPr>
        <p:txBody>
          <a:bodyPr>
            <a:normAutofit/>
          </a:bodyPr>
          <a:lstStyle/>
          <a:p>
            <a:pPr algn="l"/>
            <a:r>
              <a:rPr lang="en-US" dirty="0"/>
              <a:t>Copilot Predicts the Next 24 Months of Estate Administration</a:t>
            </a:r>
          </a:p>
        </p:txBody>
      </p:sp>
      <p:pic>
        <p:nvPicPr>
          <p:cNvPr id="29" name="Picture 28">
            <a:extLst>
              <a:ext uri="{FF2B5EF4-FFF2-40B4-BE49-F238E27FC236}">
                <a16:creationId xmlns:a16="http://schemas.microsoft.com/office/drawing/2014/main" id="{23300F48-AC66-9064-99AF-D16A4592AE39}"/>
              </a:ext>
            </a:extLst>
          </p:cNvPr>
          <p:cNvPicPr>
            <a:picLocks noChangeAspect="1"/>
          </p:cNvPicPr>
          <p:nvPr/>
        </p:nvPicPr>
        <p:blipFill>
          <a:blip r:embed="rId8"/>
          <a:srcRect l="3749" t="1717"/>
          <a:stretch>
            <a:fillRect/>
          </a:stretch>
        </p:blipFill>
        <p:spPr>
          <a:xfrm>
            <a:off x="2592986" y="2364159"/>
            <a:ext cx="3189355" cy="3364051"/>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13" name="Text Placeholder 12">
            <a:extLst>
              <a:ext uri="{FF2B5EF4-FFF2-40B4-BE49-F238E27FC236}">
                <a16:creationId xmlns:a16="http://schemas.microsoft.com/office/drawing/2014/main" id="{9FA21E95-E4AC-2983-15C9-3D0F9FDD3CCF}"/>
              </a:ext>
            </a:extLst>
          </p:cNvPr>
          <p:cNvSpPr>
            <a:spLocks noGrp="1"/>
          </p:cNvSpPr>
          <p:nvPr>
            <p:ph idx="1"/>
          </p:nvPr>
        </p:nvSpPr>
        <p:spPr>
          <a:xfrm>
            <a:off x="6096001" y="1495167"/>
            <a:ext cx="5088466" cy="4752797"/>
          </a:xfrm>
        </p:spPr>
        <p:txBody>
          <a:bodyPr>
            <a:normAutofit/>
          </a:bodyPr>
          <a:lstStyle/>
          <a:p>
            <a:pPr>
              <a:lnSpc>
                <a:spcPct val="110000"/>
              </a:lnSpc>
            </a:pPr>
            <a:r>
              <a:rPr lang="en-US" sz="1800" dirty="0"/>
              <a:t>Copilot claim: </a:t>
            </a:r>
            <a:r>
              <a:rPr lang="en-US" sz="2200" b="1" dirty="0"/>
              <a:t>“Expect AI‑driven intake, automated inventory building, probate/trust document generation, meeting‑note extraction, beneficiary communications, and tax‑sensitive modeling to become standard. Firms will see 30–50% reductions in drafting and administration time.” </a:t>
            </a:r>
          </a:p>
        </p:txBody>
      </p:sp>
      <p:sp>
        <p:nvSpPr>
          <p:cNvPr id="83" name="Rectangle 82">
            <a:extLst>
              <a:ext uri="{FF2B5EF4-FFF2-40B4-BE49-F238E27FC236}">
                <a16:creationId xmlns:a16="http://schemas.microsoft.com/office/drawing/2014/main" id="{AA11514D-4062-4EFB-B8E8-8AAB1659E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Audio 65">
            <a:extLst>
              <a:ext uri="{FF2B5EF4-FFF2-40B4-BE49-F238E27FC236}">
                <a16:creationId xmlns:a16="http://schemas.microsoft.com/office/drawing/2014/main" id="{DCBF5C39-74C4-AAD6-A4C6-1F97D1FE89F8}"/>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575581845"/>
      </p:ext>
    </p:extLst>
  </p:cSld>
  <p:clrMapOvr>
    <a:masterClrMapping/>
  </p:clrMapOvr>
  <mc:AlternateContent xmlns:mc="http://schemas.openxmlformats.org/markup-compatibility/2006" xmlns:p14="http://schemas.microsoft.com/office/powerpoint/2010/main">
    <mc:Choice Requires="p14">
      <p:transition spd="slow" p14:dur="3400" advTm="30218">
        <p14:reveal/>
      </p:transition>
    </mc:Choice>
    <mc:Fallback xmlns="">
      <p:transition spd="slow" advTm="3021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24EF92-6775-00E9-3FCF-232F2987EDDC}"/>
              </a:ext>
            </a:extLst>
          </p:cNvPr>
          <p:cNvPicPr>
            <a:picLocks noChangeAspect="1"/>
          </p:cNvPicPr>
          <p:nvPr/>
        </p:nvPicPr>
        <p:blipFill>
          <a:blip r:embed="rId6"/>
          <a:srcRect l="2002" r="6376" b="3940"/>
          <a:stretch>
            <a:fillRect/>
          </a:stretch>
        </p:blipFill>
        <p:spPr>
          <a:xfrm rot="20759230">
            <a:off x="4048044" y="3567924"/>
            <a:ext cx="7700594" cy="2393380"/>
          </a:xfrm>
          <a:prstGeom prst="rect">
            <a:avLst/>
          </a:prstGeom>
        </p:spPr>
      </p:pic>
      <p:sp>
        <p:nvSpPr>
          <p:cNvPr id="2" name="Title 1">
            <a:extLst>
              <a:ext uri="{FF2B5EF4-FFF2-40B4-BE49-F238E27FC236}">
                <a16:creationId xmlns:a16="http://schemas.microsoft.com/office/drawing/2014/main" id="{4A490EAA-E26C-9EC7-9E1B-4F1B34686BE1}"/>
              </a:ext>
            </a:extLst>
          </p:cNvPr>
          <p:cNvSpPr>
            <a:spLocks noGrp="1"/>
          </p:cNvSpPr>
          <p:nvPr>
            <p:ph type="title"/>
          </p:nvPr>
        </p:nvSpPr>
        <p:spPr>
          <a:xfrm>
            <a:off x="2926769" y="265677"/>
            <a:ext cx="4825312" cy="1077229"/>
          </a:xfrm>
        </p:spPr>
        <p:txBody>
          <a:bodyPr/>
          <a:lstStyle/>
          <a:p>
            <a:r>
              <a:rPr lang="en-US" sz="3600" dirty="0"/>
              <a:t>Findings</a:t>
            </a:r>
            <a:r>
              <a:rPr lang="en-US" dirty="0"/>
              <a:t>:</a:t>
            </a:r>
            <a:br>
              <a:rPr lang="en-US" dirty="0"/>
            </a:br>
            <a:endParaRPr lang="en-US" dirty="0"/>
          </a:p>
        </p:txBody>
      </p:sp>
      <p:sp>
        <p:nvSpPr>
          <p:cNvPr id="3" name="Content Placeholder 2">
            <a:extLst>
              <a:ext uri="{FF2B5EF4-FFF2-40B4-BE49-F238E27FC236}">
                <a16:creationId xmlns:a16="http://schemas.microsoft.com/office/drawing/2014/main" id="{9BD3A292-54BE-01D7-71F1-1B3200C9232E}"/>
              </a:ext>
            </a:extLst>
          </p:cNvPr>
          <p:cNvSpPr>
            <a:spLocks noGrp="1"/>
          </p:cNvSpPr>
          <p:nvPr>
            <p:ph idx="1"/>
          </p:nvPr>
        </p:nvSpPr>
        <p:spPr>
          <a:xfrm>
            <a:off x="1164506" y="1037968"/>
            <a:ext cx="9862988" cy="1940010"/>
          </a:xfrm>
        </p:spPr>
        <p:txBody>
          <a:bodyPr>
            <a:normAutofit/>
          </a:bodyPr>
          <a:lstStyle/>
          <a:p>
            <a:r>
              <a:rPr lang="en-US" sz="1900" dirty="0"/>
              <a:t>In attempting to search for the 30-50% reduction metric, Copilot let me to </a:t>
            </a:r>
            <a:r>
              <a:rPr lang="en-US" sz="1900" dirty="0" err="1"/>
              <a:t>Happycapy</a:t>
            </a:r>
            <a:r>
              <a:rPr lang="en-US" sz="1900" dirty="0"/>
              <a:t> guide, “How to Use AI for an Estate Planning Law Firm in 2026: A Pragmatic Managing-Partner's Playbook,”- where I was able to find the 30-50% metric, however, the actual claim states states: 30—50% reduction in drafting time in response to a question regarding an estate planning firm rolling out AI for a 1-25 person headcount. </a:t>
            </a:r>
          </a:p>
          <a:p>
            <a:endParaRPr lang="en-US" dirty="0"/>
          </a:p>
        </p:txBody>
      </p:sp>
      <p:pic>
        <p:nvPicPr>
          <p:cNvPr id="39" name="Audio 38">
            <a:extLst>
              <a:ext uri="{FF2B5EF4-FFF2-40B4-BE49-F238E27FC236}">
                <a16:creationId xmlns:a16="http://schemas.microsoft.com/office/drawing/2014/main" id="{ACF4D298-5EE4-952E-B5D4-14EDFDE3A87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4070180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47136">
        <p15:prstTrans prst="fallOver"/>
      </p:transition>
    </mc:Choice>
    <mc:Fallback xmlns="">
      <p:transition spd="slow" advTm="4713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3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6FA072-D541-4EE8-9DC6-513AAB2B9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1"/>
            <a:ext cx="1118446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BD4AA0B-889E-42F1-8C61-06B59098806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3" name="Rectangle 12">
            <a:extLst>
              <a:ext uri="{FF2B5EF4-FFF2-40B4-BE49-F238E27FC236}">
                <a16:creationId xmlns:a16="http://schemas.microsoft.com/office/drawing/2014/main" id="{27A27B9E-2573-4972-8BC6-6FC372B9F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2684A4E-2FEB-456B-BFC9-4FEA3CCD5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6B698-A82C-2102-74BE-3391088F6313}"/>
              </a:ext>
            </a:extLst>
          </p:cNvPr>
          <p:cNvSpPr>
            <a:spLocks noGrp="1"/>
          </p:cNvSpPr>
          <p:nvPr>
            <p:ph type="title"/>
          </p:nvPr>
        </p:nvSpPr>
        <p:spPr>
          <a:xfrm>
            <a:off x="1808936" y="2811270"/>
            <a:ext cx="3473753" cy="1770045"/>
          </a:xfrm>
        </p:spPr>
        <p:txBody>
          <a:bodyPr>
            <a:normAutofit/>
          </a:bodyPr>
          <a:lstStyle/>
          <a:p>
            <a:pPr algn="l"/>
            <a:r>
              <a:rPr lang="en-US" dirty="0"/>
              <a:t>What to tell Others?</a:t>
            </a:r>
            <a:endParaRPr lang="en-US"/>
          </a:p>
        </p:txBody>
      </p:sp>
      <p:graphicFrame>
        <p:nvGraphicFramePr>
          <p:cNvPr id="5" name="Content Placeholder 2">
            <a:extLst>
              <a:ext uri="{FF2B5EF4-FFF2-40B4-BE49-F238E27FC236}">
                <a16:creationId xmlns:a16="http://schemas.microsoft.com/office/drawing/2014/main" id="{7B0A8797-9B93-46CB-9F2B-7DEF1A7AA7BD}"/>
              </a:ext>
            </a:extLst>
          </p:cNvPr>
          <p:cNvGraphicFramePr>
            <a:graphicFrameLocks noGrp="1"/>
          </p:cNvGraphicFramePr>
          <p:nvPr>
            <p:ph idx="1"/>
            <p:extLst>
              <p:ext uri="{D42A27DB-BD31-4B8C-83A1-F6EECF244321}">
                <p14:modId xmlns:p14="http://schemas.microsoft.com/office/powerpoint/2010/main" val="1437654578"/>
              </p:ext>
            </p:extLst>
          </p:nvPr>
        </p:nvGraphicFramePr>
        <p:xfrm>
          <a:off x="6280264" y="550974"/>
          <a:ext cx="5295778" cy="57275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4" name="Audio 33">
            <a:extLst>
              <a:ext uri="{FF2B5EF4-FFF2-40B4-BE49-F238E27FC236}">
                <a16:creationId xmlns:a16="http://schemas.microsoft.com/office/drawing/2014/main" id="{D592DB07-E429-FD3A-90F6-87D9E7F72190}"/>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98756210"/>
      </p:ext>
    </p:extLst>
  </p:cSld>
  <p:clrMapOvr>
    <a:masterClrMapping/>
  </p:clrMapOvr>
  <mc:AlternateContent xmlns:mc="http://schemas.openxmlformats.org/markup-compatibility/2006" xmlns:p14="http://schemas.microsoft.com/office/powerpoint/2010/main">
    <mc:Choice Requires="p14">
      <p:transition spd="slow" p14:dur="1400" advTm="48460">
        <p14:ripple/>
      </p:transition>
    </mc:Choice>
    <mc:Fallback xmlns="">
      <p:transition spd="slow" advTm="4846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028FBE5-2515-4CF7-9061-EDC988E0A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10C2A92B-92F5-430A-A370-FD864418A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1" name="Picture 30">
            <a:extLst>
              <a:ext uri="{FF2B5EF4-FFF2-40B4-BE49-F238E27FC236}">
                <a16:creationId xmlns:a16="http://schemas.microsoft.com/office/drawing/2014/main" id="{C151BBAC-D417-4C14-AAFE-8AAA55B26E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3" name="Rectangle 32">
            <a:extLst>
              <a:ext uri="{FF2B5EF4-FFF2-40B4-BE49-F238E27FC236}">
                <a16:creationId xmlns:a16="http://schemas.microsoft.com/office/drawing/2014/main" id="{7DBE5AD7-4CDA-4167-83AD-34003BB38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580359-F271-4995-847D-4B9BBE8DE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FE338A2-FC59-4CD5-84F6-6D7B39CC57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4E703E-861B-B5A0-EE00-1C726E51C684}"/>
              </a:ext>
            </a:extLst>
          </p:cNvPr>
          <p:cNvSpPr>
            <a:spLocks noGrp="1"/>
          </p:cNvSpPr>
          <p:nvPr>
            <p:ph type="title"/>
          </p:nvPr>
        </p:nvSpPr>
        <p:spPr>
          <a:xfrm>
            <a:off x="7185529" y="808057"/>
            <a:ext cx="3998938" cy="695624"/>
          </a:xfrm>
        </p:spPr>
        <p:txBody>
          <a:bodyPr>
            <a:normAutofit/>
          </a:bodyPr>
          <a:lstStyle/>
          <a:p>
            <a:pPr algn="l"/>
            <a:r>
              <a:rPr lang="en-US" sz="2100" dirty="0"/>
              <a:t>What’s Not Changing? </a:t>
            </a:r>
            <a:br>
              <a:rPr lang="en-US" sz="2100" dirty="0"/>
            </a:br>
            <a:r>
              <a:rPr lang="en-US" sz="2100" dirty="0"/>
              <a:t>Humans will always be needed</a:t>
            </a:r>
          </a:p>
        </p:txBody>
      </p:sp>
      <p:pic>
        <p:nvPicPr>
          <p:cNvPr id="5" name="Picture 4">
            <a:extLst>
              <a:ext uri="{FF2B5EF4-FFF2-40B4-BE49-F238E27FC236}">
                <a16:creationId xmlns:a16="http://schemas.microsoft.com/office/drawing/2014/main" id="{47CA6BB6-E3C8-BF73-63D0-E44BC4BAC84A}"/>
              </a:ext>
            </a:extLst>
          </p:cNvPr>
          <p:cNvPicPr>
            <a:picLocks noChangeAspect="1"/>
          </p:cNvPicPr>
          <p:nvPr/>
        </p:nvPicPr>
        <p:blipFill>
          <a:blip r:embed="rId8"/>
          <a:srcRect l="12740" r="11740" b="1"/>
          <a:stretch>
            <a:fillRect/>
          </a:stretch>
        </p:blipFill>
        <p:spPr>
          <a:xfrm>
            <a:off x="1659296" y="647190"/>
            <a:ext cx="4914867" cy="556428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Content Placeholder 2">
            <a:extLst>
              <a:ext uri="{FF2B5EF4-FFF2-40B4-BE49-F238E27FC236}">
                <a16:creationId xmlns:a16="http://schemas.microsoft.com/office/drawing/2014/main" id="{0DB320BD-BBFB-DC8A-988B-08B4BFFEB996}"/>
              </a:ext>
            </a:extLst>
          </p:cNvPr>
          <p:cNvSpPr>
            <a:spLocks noGrp="1"/>
          </p:cNvSpPr>
          <p:nvPr>
            <p:ph idx="1"/>
          </p:nvPr>
        </p:nvSpPr>
        <p:spPr>
          <a:xfrm>
            <a:off x="7225698" y="1747521"/>
            <a:ext cx="3665822" cy="4302424"/>
          </a:xfrm>
        </p:spPr>
        <p:txBody>
          <a:bodyPr>
            <a:normAutofit/>
          </a:bodyPr>
          <a:lstStyle/>
          <a:p>
            <a:pPr>
              <a:lnSpc>
                <a:spcPct val="110000"/>
              </a:lnSpc>
            </a:pPr>
            <a:r>
              <a:rPr lang="en-US" sz="1400" dirty="0"/>
              <a:t>Estate Administration will continue to require a human; AI cannot be held responsible or liable for legal liability. </a:t>
            </a:r>
          </a:p>
          <a:p>
            <a:pPr>
              <a:lnSpc>
                <a:spcPct val="110000"/>
              </a:lnSpc>
            </a:pPr>
            <a:r>
              <a:rPr lang="en-US" sz="1400" dirty="0"/>
              <a:t>Family members understand the sentimental value and meaning attributed to their duties; AI cannot replicate that type of human judgment.</a:t>
            </a:r>
          </a:p>
          <a:p>
            <a:pPr>
              <a:lnSpc>
                <a:spcPct val="110000"/>
              </a:lnSpc>
            </a:pPr>
            <a:r>
              <a:rPr lang="en-US" sz="1400" dirty="0"/>
              <a:t>A human will need to physically sort through belongings left by a loved one, distributing them as requested, and clearing out things left behind, so that is a major aspect of my work that will still need a person.</a:t>
            </a:r>
          </a:p>
        </p:txBody>
      </p:sp>
      <p:sp>
        <p:nvSpPr>
          <p:cNvPr id="39" name="Rectangle 38">
            <a:extLst>
              <a:ext uri="{FF2B5EF4-FFF2-40B4-BE49-F238E27FC236}">
                <a16:creationId xmlns:a16="http://schemas.microsoft.com/office/drawing/2014/main" id="{A8F57220-9A7B-4037-B5C5-8BE03B33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Audio 18">
            <a:extLst>
              <a:ext uri="{FF2B5EF4-FFF2-40B4-BE49-F238E27FC236}">
                <a16:creationId xmlns:a16="http://schemas.microsoft.com/office/drawing/2014/main" id="{035A8288-8653-8DEF-7EF9-1F7080CDA499}"/>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70105569"/>
      </p:ext>
    </p:extLst>
  </p:cSld>
  <p:clrMapOvr>
    <a:masterClrMapping/>
  </p:clrMapOvr>
  <mc:AlternateContent xmlns:mc="http://schemas.openxmlformats.org/markup-compatibility/2006" xmlns:p14="http://schemas.microsoft.com/office/powerpoint/2010/main">
    <mc:Choice Requires="p14">
      <p:transition spd="slow" p14:dur="4000" advTm="42190">
        <p14:vortex dir="r"/>
      </p:transition>
    </mc:Choice>
    <mc:Fallback xmlns="">
      <p:transition spd="slow" advTm="4219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5"/>
          <a:stretch/>
        </a:blip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967F5611-5230-4249-948C-9599F8622A9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8" name="Picture 17">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extLst>
              <a:ext uri="{28A0092B-C50C-407E-A947-70E740481C1C}">
                <a14:useLocalDpi xmlns:a14="http://schemas.microsoft.com/office/drawing/2010/main" val="0"/>
              </a:ext>
            </a:extLst>
          </a:blip>
          <a:stretch>
            <a:fillRect/>
          </a:stretch>
        </p:blipFill>
        <p:spPr>
          <a:xfrm>
            <a:off x="-1828" y="0"/>
            <a:ext cx="12189867" cy="6858000"/>
          </a:xfrm>
          <a:prstGeom prst="rect">
            <a:avLst/>
          </a:prstGeom>
        </p:spPr>
      </p:pic>
      <p:sp>
        <p:nvSpPr>
          <p:cNvPr id="20" name="Rectangle 19">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28DF289-3FA7-47B8-A823-7F7292C92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2C104FB8-CCE1-1598-144F-CF3B0287C6A2}"/>
              </a:ext>
            </a:extLst>
          </p:cNvPr>
          <p:cNvSpPr>
            <a:spLocks noGrp="1"/>
          </p:cNvSpPr>
          <p:nvPr>
            <p:ph type="title"/>
          </p:nvPr>
        </p:nvSpPr>
        <p:spPr>
          <a:xfrm>
            <a:off x="2611808" y="808056"/>
            <a:ext cx="7958331" cy="1077229"/>
          </a:xfrm>
        </p:spPr>
        <p:txBody>
          <a:bodyPr>
            <a:normAutofit/>
          </a:bodyPr>
          <a:lstStyle/>
          <a:p>
            <a:pPr algn="l"/>
            <a:r>
              <a:rPr lang="en-US" dirty="0"/>
              <a:t>Final Thoughts</a:t>
            </a:r>
            <a:br>
              <a:rPr lang="en-US" dirty="0"/>
            </a:br>
            <a:endParaRPr lang="en-US"/>
          </a:p>
        </p:txBody>
      </p:sp>
      <p:sp>
        <p:nvSpPr>
          <p:cNvPr id="26" name="Rectangle 25">
            <a:extLst>
              <a:ext uri="{FF2B5EF4-FFF2-40B4-BE49-F238E27FC236}">
                <a16:creationId xmlns:a16="http://schemas.microsoft.com/office/drawing/2014/main" id="{EEA9B471-D6E2-406D-878F-E931B0D7E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ontent Placeholder 6">
            <a:extLst>
              <a:ext uri="{FF2B5EF4-FFF2-40B4-BE49-F238E27FC236}">
                <a16:creationId xmlns:a16="http://schemas.microsoft.com/office/drawing/2014/main" id="{9CEC2083-DCE6-8295-7CE7-D7AE43FAC370}"/>
              </a:ext>
            </a:extLst>
          </p:cNvPr>
          <p:cNvGraphicFramePr>
            <a:graphicFrameLocks noGrp="1"/>
          </p:cNvGraphicFramePr>
          <p:nvPr>
            <p:ph idx="1"/>
            <p:extLst>
              <p:ext uri="{D42A27DB-BD31-4B8C-83A1-F6EECF244321}">
                <p14:modId xmlns:p14="http://schemas.microsoft.com/office/powerpoint/2010/main" val="4230443318"/>
              </p:ext>
            </p:extLst>
          </p:nvPr>
        </p:nvGraphicFramePr>
        <p:xfrm>
          <a:off x="2610579" y="2052116"/>
          <a:ext cx="7959560" cy="39978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33" name="Audio 32">
            <a:extLst>
              <a:ext uri="{FF2B5EF4-FFF2-40B4-BE49-F238E27FC236}">
                <a16:creationId xmlns:a16="http://schemas.microsoft.com/office/drawing/2014/main" id="{B38A04C4-6DB1-0EAB-9D81-8B5E2F78CC9B}"/>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39917823"/>
      </p:ext>
    </p:extLst>
  </p:cSld>
  <p:clrMapOvr>
    <a:masterClrMapping/>
  </p:clrMapOvr>
  <mc:AlternateContent xmlns:mc="http://schemas.openxmlformats.org/markup-compatibility/2006" xmlns:p14="http://schemas.microsoft.com/office/powerpoint/2010/main">
    <mc:Choice Requires="p14">
      <p:transition spd="slow" p14:dur="4400" advTm="29640">
        <p14:honeycomb/>
      </p:transition>
    </mc:Choice>
    <mc:Fallback xmlns="">
      <p:transition spd="slow" advTm="2964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6.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Custom 4">
      <a:dk1>
        <a:srgbClr val="000000"/>
      </a:dk1>
      <a:lt1>
        <a:srgbClr val="FFFFFF"/>
      </a:lt1>
      <a:dk2>
        <a:srgbClr val="0B2743"/>
      </a:dk2>
      <a:lt2>
        <a:srgbClr val="F4F0E5"/>
      </a:lt2>
      <a:accent1>
        <a:srgbClr val="AA8B8C"/>
      </a:accent1>
      <a:accent2>
        <a:srgbClr val="DDF0E3"/>
      </a:accent2>
      <a:accent3>
        <a:srgbClr val="E2D6C1"/>
      </a:accent3>
      <a:accent4>
        <a:srgbClr val="F4F0E5"/>
      </a:accent4>
      <a:accent5>
        <a:srgbClr val="AC8E4B"/>
      </a:accent5>
      <a:accent6>
        <a:srgbClr val="6D9C9B"/>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711</TotalTime>
  <Words>1959</Words>
  <Application>Microsoft Macintosh PowerPoint</Application>
  <PresentationFormat>Widescreen</PresentationFormat>
  <Paragraphs>76</Paragraphs>
  <Slides>9</Slides>
  <Notes>9</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MS Shell Dlg 2</vt:lpstr>
      <vt:lpstr>Wingdings</vt:lpstr>
      <vt:lpstr>Wingdings 3</vt:lpstr>
      <vt:lpstr>Madison</vt:lpstr>
      <vt:lpstr>Trust and Verification in Estate Administration</vt:lpstr>
      <vt:lpstr>Current Status of AI In Probating an Estate for Fiduciaries</vt:lpstr>
      <vt:lpstr>How time-heavy work becomes structured data. </vt:lpstr>
      <vt:lpstr>Unintentional Harms with Real Consequences</vt:lpstr>
      <vt:lpstr>Copilot Predicts the Next 24 Months of Estate Administration</vt:lpstr>
      <vt:lpstr>Findings: </vt:lpstr>
      <vt:lpstr>What to tell Others?</vt:lpstr>
      <vt:lpstr>What’s Not Changing?  Humans will always be needed</vt:lpstr>
      <vt:lpstr>Final Thoughts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Anna Applegate</dc:creator>
  <cp:lastModifiedBy>Ashley Anna Applegate</cp:lastModifiedBy>
  <cp:revision>5</cp:revision>
  <dcterms:created xsi:type="dcterms:W3CDTF">2026-08-13T19:21:53Z</dcterms:created>
  <dcterms:modified xsi:type="dcterms:W3CDTF">2026-10-26T02:14:49Z</dcterms:modified>
</cp:coreProperties>
</file>